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1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7E7F1"/>
    <a:srgbClr val="43C2C5"/>
    <a:srgbClr val="1C9D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D07E0-9C31-4403-BEB7-F60FF5F477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61EBFFA-1636-4E24-A930-2AC7508376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1F453A0-B78D-4992-849C-9AB64032E141}"/>
              </a:ext>
            </a:extLst>
          </p:cNvPr>
          <p:cNvSpPr>
            <a:spLocks noGrp="1"/>
          </p:cNvSpPr>
          <p:nvPr>
            <p:ph type="dt" sz="half" idx="10"/>
          </p:nvPr>
        </p:nvSpPr>
        <p:spPr/>
        <p:txBody>
          <a:bodyPr/>
          <a:lstStyle/>
          <a:p>
            <a:fld id="{4F8353C6-20E1-4F85-BFCF-C55A832C183C}" type="datetimeFigureOut">
              <a:rPr lang="en-US" smtClean="0"/>
              <a:t>12/17/2022</a:t>
            </a:fld>
            <a:endParaRPr lang="en-US"/>
          </a:p>
        </p:txBody>
      </p:sp>
      <p:sp>
        <p:nvSpPr>
          <p:cNvPr id="5" name="Footer Placeholder 4">
            <a:extLst>
              <a:ext uri="{FF2B5EF4-FFF2-40B4-BE49-F238E27FC236}">
                <a16:creationId xmlns:a16="http://schemas.microsoft.com/office/drawing/2014/main" id="{7352F7D1-D2D3-4356-8775-4A730E27D4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B917F1-D1AE-4CAC-8A3F-4D3849D670FA}"/>
              </a:ext>
            </a:extLst>
          </p:cNvPr>
          <p:cNvSpPr>
            <a:spLocks noGrp="1"/>
          </p:cNvSpPr>
          <p:nvPr>
            <p:ph type="sldNum" sz="quarter" idx="12"/>
          </p:nvPr>
        </p:nvSpPr>
        <p:spPr/>
        <p:txBody>
          <a:bodyPr/>
          <a:lstStyle/>
          <a:p>
            <a:fld id="{A924AD91-D1FC-498F-A4FB-8178B77D3162}" type="slidenum">
              <a:rPr lang="en-US" smtClean="0"/>
              <a:t>‹#›</a:t>
            </a:fld>
            <a:endParaRPr lang="en-US"/>
          </a:p>
        </p:txBody>
      </p:sp>
    </p:spTree>
    <p:extLst>
      <p:ext uri="{BB962C8B-B14F-4D97-AF65-F5344CB8AC3E}">
        <p14:creationId xmlns:p14="http://schemas.microsoft.com/office/powerpoint/2010/main" val="2188356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C4DBA-D2F0-4C57-B6F4-FAB6E9AECD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68AC05-3AB5-43A9-9E67-9656B349DA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527366-4B14-4D06-B089-FB9E2D223C9F}"/>
              </a:ext>
            </a:extLst>
          </p:cNvPr>
          <p:cNvSpPr>
            <a:spLocks noGrp="1"/>
          </p:cNvSpPr>
          <p:nvPr>
            <p:ph type="dt" sz="half" idx="10"/>
          </p:nvPr>
        </p:nvSpPr>
        <p:spPr/>
        <p:txBody>
          <a:bodyPr/>
          <a:lstStyle/>
          <a:p>
            <a:fld id="{4F8353C6-20E1-4F85-BFCF-C55A832C183C}" type="datetimeFigureOut">
              <a:rPr lang="en-US" smtClean="0"/>
              <a:t>12/17/2022</a:t>
            </a:fld>
            <a:endParaRPr lang="en-US"/>
          </a:p>
        </p:txBody>
      </p:sp>
      <p:sp>
        <p:nvSpPr>
          <p:cNvPr id="5" name="Footer Placeholder 4">
            <a:extLst>
              <a:ext uri="{FF2B5EF4-FFF2-40B4-BE49-F238E27FC236}">
                <a16:creationId xmlns:a16="http://schemas.microsoft.com/office/drawing/2014/main" id="{B16466F9-74B8-4396-A2F8-4824F4BDA2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DDD7A7-80C2-43C2-A920-ABAB76B02B1F}"/>
              </a:ext>
            </a:extLst>
          </p:cNvPr>
          <p:cNvSpPr>
            <a:spLocks noGrp="1"/>
          </p:cNvSpPr>
          <p:nvPr>
            <p:ph type="sldNum" sz="quarter" idx="12"/>
          </p:nvPr>
        </p:nvSpPr>
        <p:spPr/>
        <p:txBody>
          <a:bodyPr/>
          <a:lstStyle/>
          <a:p>
            <a:fld id="{A924AD91-D1FC-498F-A4FB-8178B77D3162}" type="slidenum">
              <a:rPr lang="en-US" smtClean="0"/>
              <a:t>‹#›</a:t>
            </a:fld>
            <a:endParaRPr lang="en-US"/>
          </a:p>
        </p:txBody>
      </p:sp>
    </p:spTree>
    <p:extLst>
      <p:ext uri="{BB962C8B-B14F-4D97-AF65-F5344CB8AC3E}">
        <p14:creationId xmlns:p14="http://schemas.microsoft.com/office/powerpoint/2010/main" val="1290008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D89D7-475C-428E-AD07-825F68ABDF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341CCC-D111-4896-B97B-4E2383CC0AF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332727-E866-487D-956D-75F0A1DBC74B}"/>
              </a:ext>
            </a:extLst>
          </p:cNvPr>
          <p:cNvSpPr>
            <a:spLocks noGrp="1"/>
          </p:cNvSpPr>
          <p:nvPr>
            <p:ph type="dt" sz="half" idx="10"/>
          </p:nvPr>
        </p:nvSpPr>
        <p:spPr/>
        <p:txBody>
          <a:bodyPr/>
          <a:lstStyle/>
          <a:p>
            <a:fld id="{4F8353C6-20E1-4F85-BFCF-C55A832C183C}" type="datetimeFigureOut">
              <a:rPr lang="en-US" smtClean="0"/>
              <a:t>12/17/2022</a:t>
            </a:fld>
            <a:endParaRPr lang="en-US"/>
          </a:p>
        </p:txBody>
      </p:sp>
      <p:sp>
        <p:nvSpPr>
          <p:cNvPr id="5" name="Footer Placeholder 4">
            <a:extLst>
              <a:ext uri="{FF2B5EF4-FFF2-40B4-BE49-F238E27FC236}">
                <a16:creationId xmlns:a16="http://schemas.microsoft.com/office/drawing/2014/main" id="{1AFC7ED6-CB0B-4EBD-A401-F29496AD86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10129B-51C9-4F55-8477-98B71805303C}"/>
              </a:ext>
            </a:extLst>
          </p:cNvPr>
          <p:cNvSpPr>
            <a:spLocks noGrp="1"/>
          </p:cNvSpPr>
          <p:nvPr>
            <p:ph type="sldNum" sz="quarter" idx="12"/>
          </p:nvPr>
        </p:nvSpPr>
        <p:spPr/>
        <p:txBody>
          <a:bodyPr/>
          <a:lstStyle/>
          <a:p>
            <a:fld id="{A924AD91-D1FC-498F-A4FB-8178B77D3162}" type="slidenum">
              <a:rPr lang="en-US" smtClean="0"/>
              <a:t>‹#›</a:t>
            </a:fld>
            <a:endParaRPr lang="en-US"/>
          </a:p>
        </p:txBody>
      </p:sp>
    </p:spTree>
    <p:extLst>
      <p:ext uri="{BB962C8B-B14F-4D97-AF65-F5344CB8AC3E}">
        <p14:creationId xmlns:p14="http://schemas.microsoft.com/office/powerpoint/2010/main" val="1143216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2FAB7-85D4-4EDA-B3EF-86382857E9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DE5CC4-4886-41CB-9D97-98C714242E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81D93CD-7D27-4E4D-8EF4-48A5498029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34954A-D0A8-4DAA-91A6-DA182B588B08}"/>
              </a:ext>
            </a:extLst>
          </p:cNvPr>
          <p:cNvSpPr>
            <a:spLocks noGrp="1"/>
          </p:cNvSpPr>
          <p:nvPr>
            <p:ph type="dt" sz="half" idx="10"/>
          </p:nvPr>
        </p:nvSpPr>
        <p:spPr/>
        <p:txBody>
          <a:bodyPr/>
          <a:lstStyle/>
          <a:p>
            <a:fld id="{4F8353C6-20E1-4F85-BFCF-C55A832C183C}" type="datetimeFigureOut">
              <a:rPr lang="en-US" smtClean="0"/>
              <a:t>12/17/2022</a:t>
            </a:fld>
            <a:endParaRPr lang="en-US"/>
          </a:p>
        </p:txBody>
      </p:sp>
      <p:sp>
        <p:nvSpPr>
          <p:cNvPr id="6" name="Footer Placeholder 5">
            <a:extLst>
              <a:ext uri="{FF2B5EF4-FFF2-40B4-BE49-F238E27FC236}">
                <a16:creationId xmlns:a16="http://schemas.microsoft.com/office/drawing/2014/main" id="{579E68CB-C4F1-4B40-9B16-40B49D22A3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C1722F-44F7-4AC7-88FA-8970C9A4E610}"/>
              </a:ext>
            </a:extLst>
          </p:cNvPr>
          <p:cNvSpPr>
            <a:spLocks noGrp="1"/>
          </p:cNvSpPr>
          <p:nvPr>
            <p:ph type="sldNum" sz="quarter" idx="12"/>
          </p:nvPr>
        </p:nvSpPr>
        <p:spPr/>
        <p:txBody>
          <a:bodyPr/>
          <a:lstStyle/>
          <a:p>
            <a:fld id="{A924AD91-D1FC-498F-A4FB-8178B77D3162}" type="slidenum">
              <a:rPr lang="en-US" smtClean="0"/>
              <a:t>‹#›</a:t>
            </a:fld>
            <a:endParaRPr lang="en-US"/>
          </a:p>
        </p:txBody>
      </p:sp>
    </p:spTree>
    <p:extLst>
      <p:ext uri="{BB962C8B-B14F-4D97-AF65-F5344CB8AC3E}">
        <p14:creationId xmlns:p14="http://schemas.microsoft.com/office/powerpoint/2010/main" val="4095215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F05C3-446E-451A-AB6B-0DE41EB9167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7674848-BFA1-4264-82A5-023667B821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0C8AD3-A7BD-42CB-A4ED-147F9E16A5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A64673A-82F4-4AA4-999C-E9D9C1B543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9A64F9-012C-4BC9-85BE-47B62255CF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05CA4F-5FCF-47B8-81F2-3D08CDFE9D39}"/>
              </a:ext>
            </a:extLst>
          </p:cNvPr>
          <p:cNvSpPr>
            <a:spLocks noGrp="1"/>
          </p:cNvSpPr>
          <p:nvPr>
            <p:ph type="dt" sz="half" idx="10"/>
          </p:nvPr>
        </p:nvSpPr>
        <p:spPr/>
        <p:txBody>
          <a:bodyPr/>
          <a:lstStyle/>
          <a:p>
            <a:fld id="{4F8353C6-20E1-4F85-BFCF-C55A832C183C}" type="datetimeFigureOut">
              <a:rPr lang="en-US" smtClean="0"/>
              <a:t>12/17/2022</a:t>
            </a:fld>
            <a:endParaRPr lang="en-US"/>
          </a:p>
        </p:txBody>
      </p:sp>
      <p:sp>
        <p:nvSpPr>
          <p:cNvPr id="8" name="Footer Placeholder 7">
            <a:extLst>
              <a:ext uri="{FF2B5EF4-FFF2-40B4-BE49-F238E27FC236}">
                <a16:creationId xmlns:a16="http://schemas.microsoft.com/office/drawing/2014/main" id="{772BB39C-34B6-4CA4-8935-77D91B701DA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786D0D5-8925-4011-92C4-91E19F396334}"/>
              </a:ext>
            </a:extLst>
          </p:cNvPr>
          <p:cNvSpPr>
            <a:spLocks noGrp="1"/>
          </p:cNvSpPr>
          <p:nvPr>
            <p:ph type="sldNum" sz="quarter" idx="12"/>
          </p:nvPr>
        </p:nvSpPr>
        <p:spPr/>
        <p:txBody>
          <a:bodyPr/>
          <a:lstStyle/>
          <a:p>
            <a:fld id="{A924AD91-D1FC-498F-A4FB-8178B77D3162}" type="slidenum">
              <a:rPr lang="en-US" smtClean="0"/>
              <a:t>‹#›</a:t>
            </a:fld>
            <a:endParaRPr lang="en-US"/>
          </a:p>
        </p:txBody>
      </p:sp>
    </p:spTree>
    <p:extLst>
      <p:ext uri="{BB962C8B-B14F-4D97-AF65-F5344CB8AC3E}">
        <p14:creationId xmlns:p14="http://schemas.microsoft.com/office/powerpoint/2010/main" val="27058208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D308D-D402-40BF-8E15-2C51BD10284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05272B5-6490-4455-ABD8-03404580ADA8}"/>
              </a:ext>
            </a:extLst>
          </p:cNvPr>
          <p:cNvSpPr>
            <a:spLocks noGrp="1"/>
          </p:cNvSpPr>
          <p:nvPr>
            <p:ph type="dt" sz="half" idx="10"/>
          </p:nvPr>
        </p:nvSpPr>
        <p:spPr/>
        <p:txBody>
          <a:bodyPr/>
          <a:lstStyle/>
          <a:p>
            <a:fld id="{4F8353C6-20E1-4F85-BFCF-C55A832C183C}" type="datetimeFigureOut">
              <a:rPr lang="en-US" smtClean="0"/>
              <a:t>12/17/2022</a:t>
            </a:fld>
            <a:endParaRPr lang="en-US"/>
          </a:p>
        </p:txBody>
      </p:sp>
      <p:sp>
        <p:nvSpPr>
          <p:cNvPr id="4" name="Footer Placeholder 3">
            <a:extLst>
              <a:ext uri="{FF2B5EF4-FFF2-40B4-BE49-F238E27FC236}">
                <a16:creationId xmlns:a16="http://schemas.microsoft.com/office/drawing/2014/main" id="{7FC4DD09-1433-4A16-B398-55103020409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9350CD5-FFD3-4729-823A-8DC6159295FF}"/>
              </a:ext>
            </a:extLst>
          </p:cNvPr>
          <p:cNvSpPr>
            <a:spLocks noGrp="1"/>
          </p:cNvSpPr>
          <p:nvPr>
            <p:ph type="sldNum" sz="quarter" idx="12"/>
          </p:nvPr>
        </p:nvSpPr>
        <p:spPr/>
        <p:txBody>
          <a:bodyPr/>
          <a:lstStyle/>
          <a:p>
            <a:fld id="{A924AD91-D1FC-498F-A4FB-8178B77D3162}" type="slidenum">
              <a:rPr lang="en-US" smtClean="0"/>
              <a:t>‹#›</a:t>
            </a:fld>
            <a:endParaRPr lang="en-US"/>
          </a:p>
        </p:txBody>
      </p:sp>
    </p:spTree>
    <p:extLst>
      <p:ext uri="{BB962C8B-B14F-4D97-AF65-F5344CB8AC3E}">
        <p14:creationId xmlns:p14="http://schemas.microsoft.com/office/powerpoint/2010/main" val="3718529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092253-7946-4A73-88F6-228C9EA82414}"/>
              </a:ext>
            </a:extLst>
          </p:cNvPr>
          <p:cNvSpPr>
            <a:spLocks noGrp="1"/>
          </p:cNvSpPr>
          <p:nvPr>
            <p:ph type="dt" sz="half" idx="10"/>
          </p:nvPr>
        </p:nvSpPr>
        <p:spPr/>
        <p:txBody>
          <a:bodyPr/>
          <a:lstStyle/>
          <a:p>
            <a:fld id="{4F8353C6-20E1-4F85-BFCF-C55A832C183C}" type="datetimeFigureOut">
              <a:rPr lang="en-US" smtClean="0"/>
              <a:t>12/17/2022</a:t>
            </a:fld>
            <a:endParaRPr lang="en-US"/>
          </a:p>
        </p:txBody>
      </p:sp>
      <p:sp>
        <p:nvSpPr>
          <p:cNvPr id="3" name="Footer Placeholder 2">
            <a:extLst>
              <a:ext uri="{FF2B5EF4-FFF2-40B4-BE49-F238E27FC236}">
                <a16:creationId xmlns:a16="http://schemas.microsoft.com/office/drawing/2014/main" id="{96E629E0-B71B-4B81-AFEE-67E0A8BE51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9BB5587-B1B3-455D-829C-EC7E72AF3C8B}"/>
              </a:ext>
            </a:extLst>
          </p:cNvPr>
          <p:cNvSpPr>
            <a:spLocks noGrp="1"/>
          </p:cNvSpPr>
          <p:nvPr>
            <p:ph type="sldNum" sz="quarter" idx="12"/>
          </p:nvPr>
        </p:nvSpPr>
        <p:spPr/>
        <p:txBody>
          <a:bodyPr/>
          <a:lstStyle/>
          <a:p>
            <a:fld id="{A924AD91-D1FC-498F-A4FB-8178B77D3162}" type="slidenum">
              <a:rPr lang="en-US" smtClean="0"/>
              <a:t>‹#›</a:t>
            </a:fld>
            <a:endParaRPr lang="en-US"/>
          </a:p>
        </p:txBody>
      </p:sp>
    </p:spTree>
    <p:extLst>
      <p:ext uri="{BB962C8B-B14F-4D97-AF65-F5344CB8AC3E}">
        <p14:creationId xmlns:p14="http://schemas.microsoft.com/office/powerpoint/2010/main" val="4271452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A3B5F-1763-4316-8739-3701048E7C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CA13FC9-6E95-435A-B432-DFFE837E0F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F6D116-4C39-42EE-BAF3-3EBF05F612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DB9BD8-272C-452F-A1B4-DC08DB77C6C8}"/>
              </a:ext>
            </a:extLst>
          </p:cNvPr>
          <p:cNvSpPr>
            <a:spLocks noGrp="1"/>
          </p:cNvSpPr>
          <p:nvPr>
            <p:ph type="dt" sz="half" idx="10"/>
          </p:nvPr>
        </p:nvSpPr>
        <p:spPr/>
        <p:txBody>
          <a:bodyPr/>
          <a:lstStyle/>
          <a:p>
            <a:fld id="{4F8353C6-20E1-4F85-BFCF-C55A832C183C}" type="datetimeFigureOut">
              <a:rPr lang="en-US" smtClean="0"/>
              <a:t>12/17/2022</a:t>
            </a:fld>
            <a:endParaRPr lang="en-US"/>
          </a:p>
        </p:txBody>
      </p:sp>
      <p:sp>
        <p:nvSpPr>
          <p:cNvPr id="6" name="Footer Placeholder 5">
            <a:extLst>
              <a:ext uri="{FF2B5EF4-FFF2-40B4-BE49-F238E27FC236}">
                <a16:creationId xmlns:a16="http://schemas.microsoft.com/office/drawing/2014/main" id="{BF49BD54-7E1B-4889-9984-D013AEA701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2BFBB7-E4EE-4571-BE2D-F560D5AF4728}"/>
              </a:ext>
            </a:extLst>
          </p:cNvPr>
          <p:cNvSpPr>
            <a:spLocks noGrp="1"/>
          </p:cNvSpPr>
          <p:nvPr>
            <p:ph type="sldNum" sz="quarter" idx="12"/>
          </p:nvPr>
        </p:nvSpPr>
        <p:spPr/>
        <p:txBody>
          <a:bodyPr/>
          <a:lstStyle/>
          <a:p>
            <a:fld id="{A924AD91-D1FC-498F-A4FB-8178B77D3162}" type="slidenum">
              <a:rPr lang="en-US" smtClean="0"/>
              <a:t>‹#›</a:t>
            </a:fld>
            <a:endParaRPr lang="en-US"/>
          </a:p>
        </p:txBody>
      </p:sp>
    </p:spTree>
    <p:extLst>
      <p:ext uri="{BB962C8B-B14F-4D97-AF65-F5344CB8AC3E}">
        <p14:creationId xmlns:p14="http://schemas.microsoft.com/office/powerpoint/2010/main" val="3125197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FC608-D569-4A18-A63A-206767D3B7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4DAD93-260B-4747-B21E-C410C9C89C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92F699-6D2F-4502-859D-B545DB5D6A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6EFC60-FE15-464C-97F8-8B92BA70AA70}"/>
              </a:ext>
            </a:extLst>
          </p:cNvPr>
          <p:cNvSpPr>
            <a:spLocks noGrp="1"/>
          </p:cNvSpPr>
          <p:nvPr>
            <p:ph type="dt" sz="half" idx="10"/>
          </p:nvPr>
        </p:nvSpPr>
        <p:spPr/>
        <p:txBody>
          <a:bodyPr/>
          <a:lstStyle/>
          <a:p>
            <a:fld id="{4F8353C6-20E1-4F85-BFCF-C55A832C183C}" type="datetimeFigureOut">
              <a:rPr lang="en-US" smtClean="0"/>
              <a:t>12/17/2022</a:t>
            </a:fld>
            <a:endParaRPr lang="en-US"/>
          </a:p>
        </p:txBody>
      </p:sp>
      <p:sp>
        <p:nvSpPr>
          <p:cNvPr id="6" name="Footer Placeholder 5">
            <a:extLst>
              <a:ext uri="{FF2B5EF4-FFF2-40B4-BE49-F238E27FC236}">
                <a16:creationId xmlns:a16="http://schemas.microsoft.com/office/drawing/2014/main" id="{A18F9BDA-383C-4E6C-9CD0-1D56302443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356FA1-434D-4D6B-B9E5-389F2CFBBBC4}"/>
              </a:ext>
            </a:extLst>
          </p:cNvPr>
          <p:cNvSpPr>
            <a:spLocks noGrp="1"/>
          </p:cNvSpPr>
          <p:nvPr>
            <p:ph type="sldNum" sz="quarter" idx="12"/>
          </p:nvPr>
        </p:nvSpPr>
        <p:spPr/>
        <p:txBody>
          <a:bodyPr/>
          <a:lstStyle/>
          <a:p>
            <a:fld id="{A924AD91-D1FC-498F-A4FB-8178B77D3162}" type="slidenum">
              <a:rPr lang="en-US" smtClean="0"/>
              <a:t>‹#›</a:t>
            </a:fld>
            <a:endParaRPr lang="en-US"/>
          </a:p>
        </p:txBody>
      </p:sp>
    </p:spTree>
    <p:extLst>
      <p:ext uri="{BB962C8B-B14F-4D97-AF65-F5344CB8AC3E}">
        <p14:creationId xmlns:p14="http://schemas.microsoft.com/office/powerpoint/2010/main" val="1331592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778C0-7EC3-47F4-B4AD-6D642B9ED4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52DFA03-4E81-49F4-8141-F704E4395B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045501-CA6D-4133-91BF-C31AC1C30B8F}"/>
              </a:ext>
            </a:extLst>
          </p:cNvPr>
          <p:cNvSpPr>
            <a:spLocks noGrp="1"/>
          </p:cNvSpPr>
          <p:nvPr>
            <p:ph type="dt" sz="half" idx="10"/>
          </p:nvPr>
        </p:nvSpPr>
        <p:spPr/>
        <p:txBody>
          <a:bodyPr/>
          <a:lstStyle/>
          <a:p>
            <a:fld id="{4F8353C6-20E1-4F85-BFCF-C55A832C183C}" type="datetimeFigureOut">
              <a:rPr lang="en-US" smtClean="0"/>
              <a:t>12/17/2022</a:t>
            </a:fld>
            <a:endParaRPr lang="en-US"/>
          </a:p>
        </p:txBody>
      </p:sp>
      <p:sp>
        <p:nvSpPr>
          <p:cNvPr id="5" name="Footer Placeholder 4">
            <a:extLst>
              <a:ext uri="{FF2B5EF4-FFF2-40B4-BE49-F238E27FC236}">
                <a16:creationId xmlns:a16="http://schemas.microsoft.com/office/drawing/2014/main" id="{31AD34F1-8D3D-4138-8C75-E1EE02089D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E3487B-6D22-4E03-A96E-60730D3D140A}"/>
              </a:ext>
            </a:extLst>
          </p:cNvPr>
          <p:cNvSpPr>
            <a:spLocks noGrp="1"/>
          </p:cNvSpPr>
          <p:nvPr>
            <p:ph type="sldNum" sz="quarter" idx="12"/>
          </p:nvPr>
        </p:nvSpPr>
        <p:spPr/>
        <p:txBody>
          <a:bodyPr/>
          <a:lstStyle/>
          <a:p>
            <a:fld id="{A924AD91-D1FC-498F-A4FB-8178B77D3162}" type="slidenum">
              <a:rPr lang="en-US" smtClean="0"/>
              <a:t>‹#›</a:t>
            </a:fld>
            <a:endParaRPr lang="en-US"/>
          </a:p>
        </p:txBody>
      </p:sp>
    </p:spTree>
    <p:extLst>
      <p:ext uri="{BB962C8B-B14F-4D97-AF65-F5344CB8AC3E}">
        <p14:creationId xmlns:p14="http://schemas.microsoft.com/office/powerpoint/2010/main" val="1400027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32F3B0-1AE3-4D19-811E-9B49EB091F2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5E8348B-E0D9-4814-97BA-488C01C127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490449-CE46-4829-88F0-F2EE62D30944}"/>
              </a:ext>
            </a:extLst>
          </p:cNvPr>
          <p:cNvSpPr>
            <a:spLocks noGrp="1"/>
          </p:cNvSpPr>
          <p:nvPr>
            <p:ph type="dt" sz="half" idx="10"/>
          </p:nvPr>
        </p:nvSpPr>
        <p:spPr/>
        <p:txBody>
          <a:bodyPr/>
          <a:lstStyle/>
          <a:p>
            <a:fld id="{4F8353C6-20E1-4F85-BFCF-C55A832C183C}" type="datetimeFigureOut">
              <a:rPr lang="en-US" smtClean="0"/>
              <a:t>12/17/2022</a:t>
            </a:fld>
            <a:endParaRPr lang="en-US"/>
          </a:p>
        </p:txBody>
      </p:sp>
      <p:sp>
        <p:nvSpPr>
          <p:cNvPr id="5" name="Footer Placeholder 4">
            <a:extLst>
              <a:ext uri="{FF2B5EF4-FFF2-40B4-BE49-F238E27FC236}">
                <a16:creationId xmlns:a16="http://schemas.microsoft.com/office/drawing/2014/main" id="{06E2D862-7315-4F2D-A731-54E2819C00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17A23C-D8D0-40EA-A0DE-45B380EFE6A5}"/>
              </a:ext>
            </a:extLst>
          </p:cNvPr>
          <p:cNvSpPr>
            <a:spLocks noGrp="1"/>
          </p:cNvSpPr>
          <p:nvPr>
            <p:ph type="sldNum" sz="quarter" idx="12"/>
          </p:nvPr>
        </p:nvSpPr>
        <p:spPr/>
        <p:txBody>
          <a:bodyPr/>
          <a:lstStyle/>
          <a:p>
            <a:fld id="{A924AD91-D1FC-498F-A4FB-8178B77D3162}" type="slidenum">
              <a:rPr lang="en-US" smtClean="0"/>
              <a:t>‹#›</a:t>
            </a:fld>
            <a:endParaRPr lang="en-US"/>
          </a:p>
        </p:txBody>
      </p:sp>
    </p:spTree>
    <p:extLst>
      <p:ext uri="{BB962C8B-B14F-4D97-AF65-F5344CB8AC3E}">
        <p14:creationId xmlns:p14="http://schemas.microsoft.com/office/powerpoint/2010/main" val="870426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3DD93C-9DF9-42C7-899F-B2BBF33D2C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AB0492E-D323-40D7-9972-6EE8244B88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955ADA-2802-4319-BDB2-0139DDED79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8353C6-20E1-4F85-BFCF-C55A832C183C}" type="datetimeFigureOut">
              <a:rPr lang="en-US" smtClean="0"/>
              <a:t>12/17/2022</a:t>
            </a:fld>
            <a:endParaRPr lang="en-US"/>
          </a:p>
        </p:txBody>
      </p:sp>
      <p:sp>
        <p:nvSpPr>
          <p:cNvPr id="5" name="Footer Placeholder 4">
            <a:extLst>
              <a:ext uri="{FF2B5EF4-FFF2-40B4-BE49-F238E27FC236}">
                <a16:creationId xmlns:a16="http://schemas.microsoft.com/office/drawing/2014/main" id="{CCBB66BE-E50B-4BC8-B2AD-9B78A49D33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F489A1E-CE74-4A5A-8190-D3F2D8EF40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24AD91-D1FC-498F-A4FB-8178B77D3162}" type="slidenum">
              <a:rPr lang="en-US" smtClean="0"/>
              <a:t>‹#›</a:t>
            </a:fld>
            <a:endParaRPr lang="en-US"/>
          </a:p>
        </p:txBody>
      </p:sp>
    </p:spTree>
    <p:extLst>
      <p:ext uri="{BB962C8B-B14F-4D97-AF65-F5344CB8AC3E}">
        <p14:creationId xmlns:p14="http://schemas.microsoft.com/office/powerpoint/2010/main" val="28252650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CEB8E-39E7-4D82-863C-D51366AA2878}"/>
              </a:ext>
            </a:extLst>
          </p:cNvPr>
          <p:cNvSpPr>
            <a:spLocks noGrp="1"/>
          </p:cNvSpPr>
          <p:nvPr>
            <p:ph type="ctrTitle"/>
          </p:nvPr>
        </p:nvSpPr>
        <p:spPr>
          <a:xfrm>
            <a:off x="1179250" y="2219418"/>
            <a:ext cx="9348557" cy="1104114"/>
          </a:xfrm>
        </p:spPr>
        <p:txBody>
          <a:bodyPr>
            <a:noAutofit/>
          </a:bodyPr>
          <a:lstStyle/>
          <a:p>
            <a:r>
              <a:rPr lang="en-US" sz="4600" dirty="0">
                <a:latin typeface="Times New Roman" panose="02020603050405020304" pitchFamily="18" charset="0"/>
                <a:cs typeface="Times New Roman" panose="02020603050405020304" pitchFamily="18" charset="0"/>
              </a:rPr>
              <a:t>DESIGN OF AUTOMATIC RFID TAG LABELLING MACHINE</a:t>
            </a:r>
          </a:p>
        </p:txBody>
      </p:sp>
      <p:sp>
        <p:nvSpPr>
          <p:cNvPr id="3" name="Subtitle 2">
            <a:extLst>
              <a:ext uri="{FF2B5EF4-FFF2-40B4-BE49-F238E27FC236}">
                <a16:creationId xmlns:a16="http://schemas.microsoft.com/office/drawing/2014/main" id="{4D3F62D1-84A7-453C-BD7D-87D514AD0428}"/>
              </a:ext>
            </a:extLst>
          </p:cNvPr>
          <p:cNvSpPr>
            <a:spLocks noGrp="1"/>
          </p:cNvSpPr>
          <p:nvPr>
            <p:ph type="subTitle" idx="1"/>
          </p:nvPr>
        </p:nvSpPr>
        <p:spPr>
          <a:xfrm>
            <a:off x="1179250" y="3761837"/>
            <a:ext cx="9833499" cy="1655762"/>
          </a:xfrm>
        </p:spPr>
        <p:txBody>
          <a:bodyPr/>
          <a:lstStyle/>
          <a:p>
            <a:pPr algn="l"/>
            <a:r>
              <a:rPr lang="en-US" dirty="0">
                <a:latin typeface="Times New Roman" panose="02020603050405020304" pitchFamily="18" charset="0"/>
                <a:cs typeface="Times New Roman" panose="02020603050405020304" pitchFamily="18" charset="0"/>
              </a:rPr>
              <a:t>Name:		Nguyen Tran Duy Anh</a:t>
            </a:r>
          </a:p>
          <a:p>
            <a:pPr algn="l"/>
            <a:r>
              <a:rPr lang="en-US" dirty="0">
                <a:latin typeface="Times New Roman" panose="02020603050405020304" pitchFamily="18" charset="0"/>
                <a:cs typeface="Times New Roman" panose="02020603050405020304" pitchFamily="18" charset="0"/>
              </a:rPr>
              <a:t>ID:		1852239</a:t>
            </a:r>
          </a:p>
          <a:p>
            <a:pPr algn="l"/>
            <a:r>
              <a:rPr lang="en-US" dirty="0">
                <a:latin typeface="Times New Roman" panose="02020603050405020304" pitchFamily="18" charset="0"/>
                <a:cs typeface="Times New Roman" panose="02020603050405020304" pitchFamily="18" charset="0"/>
              </a:rPr>
              <a:t>Instructor:	</a:t>
            </a:r>
            <a:r>
              <a:rPr lang="en-US" dirty="0" err="1">
                <a:latin typeface="Times New Roman" panose="02020603050405020304" pitchFamily="18" charset="0"/>
                <a:cs typeface="Times New Roman" panose="02020603050405020304" pitchFamily="18" charset="0"/>
              </a:rPr>
              <a:t>Asc.prof</a:t>
            </a:r>
            <a:r>
              <a:rPr lang="en-US" dirty="0">
                <a:latin typeface="Times New Roman" panose="02020603050405020304" pitchFamily="18" charset="0"/>
                <a:cs typeface="Times New Roman" panose="02020603050405020304" pitchFamily="18" charset="0"/>
              </a:rPr>
              <a:t> Vo </a:t>
            </a:r>
            <a:r>
              <a:rPr lang="en-US" dirty="0" err="1">
                <a:latin typeface="Times New Roman" panose="02020603050405020304" pitchFamily="18" charset="0"/>
                <a:cs typeface="Times New Roman" panose="02020603050405020304" pitchFamily="18" charset="0"/>
              </a:rPr>
              <a:t>Tuong</a:t>
            </a:r>
            <a:r>
              <a:rPr lang="en-US" dirty="0">
                <a:latin typeface="Times New Roman" panose="02020603050405020304" pitchFamily="18" charset="0"/>
                <a:cs typeface="Times New Roman" panose="02020603050405020304" pitchFamily="18" charset="0"/>
              </a:rPr>
              <a:t> Quan</a:t>
            </a:r>
          </a:p>
        </p:txBody>
      </p:sp>
      <p:cxnSp>
        <p:nvCxnSpPr>
          <p:cNvPr id="5" name="Straight Connector 4">
            <a:extLst>
              <a:ext uri="{FF2B5EF4-FFF2-40B4-BE49-F238E27FC236}">
                <a16:creationId xmlns:a16="http://schemas.microsoft.com/office/drawing/2014/main" id="{BE8DE7A8-71F9-4C83-9C9A-C0024B42A64B}"/>
              </a:ext>
            </a:extLst>
          </p:cNvPr>
          <p:cNvCxnSpPr>
            <a:cxnSpLocks/>
          </p:cNvCxnSpPr>
          <p:nvPr/>
        </p:nvCxnSpPr>
        <p:spPr>
          <a:xfrm flipV="1">
            <a:off x="1179250" y="3429000"/>
            <a:ext cx="9991817" cy="3283"/>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49CD28B3-D382-4667-9F2A-B229E92BD290}"/>
              </a:ext>
            </a:extLst>
          </p:cNvPr>
          <p:cNvSpPr/>
          <p:nvPr/>
        </p:nvSpPr>
        <p:spPr>
          <a:xfrm>
            <a:off x="0" y="6516210"/>
            <a:ext cx="12192000" cy="3417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2207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1. Overview</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1.1 The technology implemented in warehouse item tracking</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B829A88E-78B4-4B03-864D-1610EFAAB182}"/>
              </a:ext>
            </a:extLst>
          </p:cNvPr>
          <p:cNvSpPr txBox="1">
            <a:spLocks/>
          </p:cNvSpPr>
          <p:nvPr/>
        </p:nvSpPr>
        <p:spPr>
          <a:xfrm>
            <a:off x="838200" y="1687063"/>
            <a:ext cx="10515598" cy="20066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1.1.1 Barcode</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Present data in visual, machine-readable form. </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Present data by varying the widths, spacings and sizes of parallel lines.</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Can be scanned by optical scanners or camera</a:t>
            </a:r>
          </a:p>
          <a:p>
            <a:pPr marL="0" indent="0">
              <a:buFont typeface="Arial" panose="020B0604020202020204" pitchFamily="34" charset="0"/>
              <a:buNone/>
            </a:pPr>
            <a:endParaRPr lang="en-US" sz="2400" dirty="0"/>
          </a:p>
        </p:txBody>
      </p:sp>
      <p:pic>
        <p:nvPicPr>
          <p:cNvPr id="9" name="Picture 8" descr="2D barcodes, what it is and why do we need it for - JustShipITJustShipIT">
            <a:extLst>
              <a:ext uri="{FF2B5EF4-FFF2-40B4-BE49-F238E27FC236}">
                <a16:creationId xmlns:a16="http://schemas.microsoft.com/office/drawing/2014/main" id="{EEEDDC64-280A-45E6-B2A6-DCBD8AA685D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65319" y="3693683"/>
            <a:ext cx="3261360" cy="2106930"/>
          </a:xfrm>
          <a:prstGeom prst="rect">
            <a:avLst/>
          </a:prstGeom>
          <a:noFill/>
          <a:ln>
            <a:noFill/>
          </a:ln>
        </p:spPr>
      </p:pic>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0560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1. Overview</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1.1 The technology implemented in warehouse item tracking</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B829A88E-78B4-4B03-864D-1610EFAAB182}"/>
              </a:ext>
            </a:extLst>
          </p:cNvPr>
          <p:cNvSpPr txBox="1">
            <a:spLocks/>
          </p:cNvSpPr>
          <p:nvPr/>
        </p:nvSpPr>
        <p:spPr>
          <a:xfrm>
            <a:off x="838200" y="1687063"/>
            <a:ext cx="10515598" cy="20066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1.1.2 QR code</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Present data in geometric patterns like dots, rectangles, hexagons.. </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Can present more data per unit area compared to barcode</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Can be scanned by optical scanners or camera</a:t>
            </a:r>
          </a:p>
          <a:p>
            <a:pPr marL="0" indent="0">
              <a:buFont typeface="Arial" panose="020B0604020202020204" pitchFamily="34" charset="0"/>
              <a:buNone/>
            </a:pPr>
            <a:endParaRPr lang="en-US" sz="2400" dirty="0"/>
          </a:p>
        </p:txBody>
      </p:sp>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QR Code">
            <a:extLst>
              <a:ext uri="{FF2B5EF4-FFF2-40B4-BE49-F238E27FC236}">
                <a16:creationId xmlns:a16="http://schemas.microsoft.com/office/drawing/2014/main" id="{287203FD-B3E4-40B8-8D79-981E0659B9CE}"/>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89169" y="3426010"/>
            <a:ext cx="2613660" cy="2613660"/>
          </a:xfrm>
          <a:prstGeom prst="rect">
            <a:avLst/>
          </a:prstGeom>
          <a:noFill/>
          <a:ln>
            <a:noFill/>
          </a:ln>
        </p:spPr>
      </p:pic>
    </p:spTree>
    <p:extLst>
      <p:ext uri="{BB962C8B-B14F-4D97-AF65-F5344CB8AC3E}">
        <p14:creationId xmlns:p14="http://schemas.microsoft.com/office/powerpoint/2010/main" val="3852864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1. Overview</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1.1 The technology implemented in warehouse item tracking</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B829A88E-78B4-4B03-864D-1610EFAAB182}"/>
              </a:ext>
            </a:extLst>
          </p:cNvPr>
          <p:cNvSpPr txBox="1">
            <a:spLocks/>
          </p:cNvSpPr>
          <p:nvPr/>
        </p:nvSpPr>
        <p:spPr>
          <a:xfrm>
            <a:off x="838199" y="1687063"/>
            <a:ext cx="11084859" cy="20066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1.1.3 RFID</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Tag transmits data to reader via radio waves</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Each tag contain a sensor that has unique identifier</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An RFID reader can simultaneously scan more than 100 tags without sight visibility</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3 main type of RFID: Low frequency, High frequency, Ultra – high frequency</a:t>
            </a:r>
          </a:p>
          <a:p>
            <a:pPr marL="0" indent="0">
              <a:buFont typeface="Arial" panose="020B0604020202020204" pitchFamily="34" charset="0"/>
              <a:buNone/>
            </a:pPr>
            <a:endParaRPr lang="en-US" sz="2400" dirty="0"/>
          </a:p>
        </p:txBody>
      </p:sp>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YARONGTECH UHF RFID Tag AZ9662 ISO18000-6C Long Range Alien H3 73. 5x21. 2  mm Adhesive Inlay Label - Pack of 100 : Amazon.in: Industrial &amp; Scientific">
            <a:extLst>
              <a:ext uri="{FF2B5EF4-FFF2-40B4-BE49-F238E27FC236}">
                <a16:creationId xmlns:a16="http://schemas.microsoft.com/office/drawing/2014/main" id="{CC029919-4CA1-40F9-95D2-079B874D9542}"/>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37286" y="3946758"/>
            <a:ext cx="2717427" cy="2506986"/>
          </a:xfrm>
          <a:prstGeom prst="rect">
            <a:avLst/>
          </a:prstGeom>
          <a:noFill/>
          <a:ln>
            <a:noFill/>
          </a:ln>
        </p:spPr>
      </p:pic>
    </p:spTree>
    <p:extLst>
      <p:ext uri="{BB962C8B-B14F-4D97-AF65-F5344CB8AC3E}">
        <p14:creationId xmlns:p14="http://schemas.microsoft.com/office/powerpoint/2010/main" val="4082263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1. Overview</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1.1 The technology implemented in warehouse item tracking</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B829A88E-78B4-4B03-864D-1610EFAAB182}"/>
              </a:ext>
            </a:extLst>
          </p:cNvPr>
          <p:cNvSpPr txBox="1">
            <a:spLocks/>
          </p:cNvSpPr>
          <p:nvPr/>
        </p:nvSpPr>
        <p:spPr>
          <a:xfrm>
            <a:off x="838200" y="1687063"/>
            <a:ext cx="10515598" cy="20066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1.1.4 Computer vision</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Real – time data collection via images and video collected by camera</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Detect damaged or mislabeled items</a:t>
            </a:r>
          </a:p>
          <a:p>
            <a:pPr marL="0" indent="0">
              <a:buFont typeface="Arial" panose="020B0604020202020204" pitchFamily="34" charset="0"/>
              <a:buNone/>
            </a:pPr>
            <a:endParaRPr lang="en-US" sz="2400" dirty="0"/>
          </a:p>
        </p:txBody>
      </p:sp>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2" descr="Computer Vision in Inventory Management – Curvelogics">
            <a:extLst>
              <a:ext uri="{FF2B5EF4-FFF2-40B4-BE49-F238E27FC236}">
                <a16:creationId xmlns:a16="http://schemas.microsoft.com/office/drawing/2014/main" id="{45572492-BC02-4742-8FBE-A4CB110A59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4128" y="3088985"/>
            <a:ext cx="4934766" cy="29506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3909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1. Overview</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1.1 The technology implemented in warehouse item tracking</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B829A88E-78B4-4B03-864D-1610EFAAB182}"/>
              </a:ext>
            </a:extLst>
          </p:cNvPr>
          <p:cNvSpPr txBox="1">
            <a:spLocks/>
          </p:cNvSpPr>
          <p:nvPr/>
        </p:nvSpPr>
        <p:spPr>
          <a:xfrm>
            <a:off x="838200" y="1687063"/>
            <a:ext cx="10515598" cy="20066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1.1.5 Comparison</a:t>
            </a:r>
          </a:p>
          <a:p>
            <a:pPr marL="0" indent="0">
              <a:buFont typeface="Arial" panose="020B0604020202020204" pitchFamily="34" charset="0"/>
              <a:buNone/>
            </a:pPr>
            <a:endParaRPr lang="en-US" sz="2400" dirty="0"/>
          </a:p>
        </p:txBody>
      </p:sp>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able 4">
            <a:extLst>
              <a:ext uri="{FF2B5EF4-FFF2-40B4-BE49-F238E27FC236}">
                <a16:creationId xmlns:a16="http://schemas.microsoft.com/office/drawing/2014/main" id="{E33D324F-1DC2-4F9C-B5BB-2E041C7C43D4}"/>
              </a:ext>
            </a:extLst>
          </p:cNvPr>
          <p:cNvGraphicFramePr>
            <a:graphicFrameLocks noGrp="1"/>
          </p:cNvGraphicFramePr>
          <p:nvPr>
            <p:extLst>
              <p:ext uri="{D42A27DB-BD31-4B8C-83A1-F6EECF244321}">
                <p14:modId xmlns:p14="http://schemas.microsoft.com/office/powerpoint/2010/main" val="3439113921"/>
              </p:ext>
            </p:extLst>
          </p:nvPr>
        </p:nvGraphicFramePr>
        <p:xfrm>
          <a:off x="1178852" y="2332336"/>
          <a:ext cx="9834294" cy="3389323"/>
        </p:xfrm>
        <a:graphic>
          <a:graphicData uri="http://schemas.openxmlformats.org/drawingml/2006/table">
            <a:tbl>
              <a:tblPr firstRow="1" bandRow="1">
                <a:tableStyleId>{5C22544A-7EE6-4342-B048-85BDC9FD1C3A}</a:tableStyleId>
              </a:tblPr>
              <a:tblGrid>
                <a:gridCol w="1801917">
                  <a:extLst>
                    <a:ext uri="{9D8B030D-6E8A-4147-A177-3AD203B41FA5}">
                      <a16:colId xmlns:a16="http://schemas.microsoft.com/office/drawing/2014/main" val="397898206"/>
                    </a:ext>
                  </a:extLst>
                </a:gridCol>
                <a:gridCol w="3657600">
                  <a:extLst>
                    <a:ext uri="{9D8B030D-6E8A-4147-A177-3AD203B41FA5}">
                      <a16:colId xmlns:a16="http://schemas.microsoft.com/office/drawing/2014/main" val="2481172694"/>
                    </a:ext>
                  </a:extLst>
                </a:gridCol>
                <a:gridCol w="4374777">
                  <a:extLst>
                    <a:ext uri="{9D8B030D-6E8A-4147-A177-3AD203B41FA5}">
                      <a16:colId xmlns:a16="http://schemas.microsoft.com/office/drawing/2014/main" val="160126894"/>
                    </a:ext>
                  </a:extLst>
                </a:gridCol>
              </a:tblGrid>
              <a:tr h="371069">
                <a:tc>
                  <a:txBody>
                    <a:bodyPr/>
                    <a:lstStyle/>
                    <a:p>
                      <a:endParaRPr lang="en-US" dirty="0"/>
                    </a:p>
                  </a:txBody>
                  <a:tcPr/>
                </a:tc>
                <a:tc>
                  <a:txBody>
                    <a:bodyPr/>
                    <a:lstStyle/>
                    <a:p>
                      <a:pPr algn="ctr"/>
                      <a:r>
                        <a:rPr lang="en-US" dirty="0"/>
                        <a:t>Pros</a:t>
                      </a:r>
                    </a:p>
                  </a:txBody>
                  <a:tcPr/>
                </a:tc>
                <a:tc>
                  <a:txBody>
                    <a:bodyPr/>
                    <a:lstStyle/>
                    <a:p>
                      <a:pPr algn="ctr"/>
                      <a:r>
                        <a:rPr lang="en-US" dirty="0"/>
                        <a:t>Cons</a:t>
                      </a:r>
                    </a:p>
                  </a:txBody>
                  <a:tcPr/>
                </a:tc>
                <a:extLst>
                  <a:ext uri="{0D108BD9-81ED-4DB2-BD59-A6C34878D82A}">
                    <a16:rowId xmlns:a16="http://schemas.microsoft.com/office/drawing/2014/main" val="2794099826"/>
                  </a:ext>
                </a:extLst>
              </a:tr>
              <a:tr h="1189454">
                <a:tc>
                  <a:txBody>
                    <a:bodyPr/>
                    <a:lstStyle/>
                    <a:p>
                      <a:r>
                        <a:rPr lang="en-US" dirty="0">
                          <a:latin typeface="Times New Roman" panose="02020603050405020304" pitchFamily="18" charset="0"/>
                          <a:cs typeface="Times New Roman" panose="02020603050405020304" pitchFamily="18" charset="0"/>
                        </a:rPr>
                        <a:t>Barcode</a:t>
                      </a:r>
                    </a:p>
                    <a:p>
                      <a:r>
                        <a:rPr lang="en-US" dirty="0">
                          <a:latin typeface="Times New Roman" panose="02020603050405020304" pitchFamily="18" charset="0"/>
                          <a:cs typeface="Times New Roman" panose="02020603050405020304" pitchFamily="18" charset="0"/>
                        </a:rPr>
                        <a:t>QR code</a:t>
                      </a:r>
                    </a:p>
                  </a:txBody>
                  <a:tcPr/>
                </a:tc>
                <a:tc>
                  <a:txBody>
                    <a:bodyPr/>
                    <a:lstStyle/>
                    <a:p>
                      <a:r>
                        <a:rPr lang="en-US" dirty="0">
                          <a:latin typeface="Times New Roman" panose="02020603050405020304" pitchFamily="18" charset="0"/>
                          <a:cs typeface="Times New Roman" panose="02020603050405020304" pitchFamily="18" charset="0"/>
                        </a:rPr>
                        <a:t>Low setup cost</a:t>
                      </a:r>
                    </a:p>
                  </a:txBody>
                  <a:tcPr/>
                </a:tc>
                <a:tc>
                  <a:txBody>
                    <a:bodyPr/>
                    <a:lstStyle/>
                    <a:p>
                      <a:r>
                        <a:rPr lang="en-US" dirty="0">
                          <a:latin typeface="Times New Roman" panose="02020603050405020304" pitchFamily="18" charset="0"/>
                          <a:cs typeface="Times New Roman" panose="02020603050405020304" pitchFamily="18" charset="0"/>
                        </a:rPr>
                        <a:t>Scan single item at once</a:t>
                      </a:r>
                    </a:p>
                    <a:p>
                      <a:r>
                        <a:rPr lang="en-US" dirty="0">
                          <a:latin typeface="Times New Roman" panose="02020603050405020304" pitchFamily="18" charset="0"/>
                          <a:cs typeface="Times New Roman" panose="02020603050405020304" pitchFamily="18" charset="0"/>
                        </a:rPr>
                        <a:t>Store small amount of data</a:t>
                      </a:r>
                    </a:p>
                    <a:p>
                      <a:r>
                        <a:rPr lang="en-US" dirty="0">
                          <a:latin typeface="Times New Roman" panose="02020603050405020304" pitchFamily="18" charset="0"/>
                          <a:cs typeface="Times New Roman" panose="02020603050405020304" pitchFamily="18" charset="0"/>
                        </a:rPr>
                        <a:t>Require sight visibility</a:t>
                      </a:r>
                    </a:p>
                    <a:p>
                      <a:r>
                        <a:rPr lang="en-US" dirty="0">
                          <a:latin typeface="Times New Roman" panose="02020603050405020304" pitchFamily="18" charset="0"/>
                          <a:cs typeface="Times New Roman" panose="02020603050405020304" pitchFamily="18" charset="0"/>
                        </a:rPr>
                        <a:t>Tag can be dirty or blur </a:t>
                      </a:r>
                    </a:p>
                  </a:txBody>
                  <a:tcPr/>
                </a:tc>
                <a:extLst>
                  <a:ext uri="{0D108BD9-81ED-4DB2-BD59-A6C34878D82A}">
                    <a16:rowId xmlns:a16="http://schemas.microsoft.com/office/drawing/2014/main" val="892201649"/>
                  </a:ext>
                </a:extLst>
              </a:tr>
              <a:tr h="640475">
                <a:tc>
                  <a:txBody>
                    <a:bodyPr/>
                    <a:lstStyle/>
                    <a:p>
                      <a:r>
                        <a:rPr lang="en-US" dirty="0">
                          <a:latin typeface="Times New Roman" panose="02020603050405020304" pitchFamily="18" charset="0"/>
                          <a:cs typeface="Times New Roman" panose="02020603050405020304" pitchFamily="18" charset="0"/>
                        </a:rPr>
                        <a:t>RFID</a:t>
                      </a:r>
                    </a:p>
                  </a:txBody>
                  <a:tcPr/>
                </a:tc>
                <a:tc>
                  <a:txBody>
                    <a:bodyPr/>
                    <a:lstStyle/>
                    <a:p>
                      <a:r>
                        <a:rPr lang="en-US" dirty="0">
                          <a:latin typeface="Times New Roman" panose="02020603050405020304" pitchFamily="18" charset="0"/>
                          <a:cs typeface="Times New Roman" panose="02020603050405020304" pitchFamily="18" charset="0"/>
                        </a:rPr>
                        <a:t>Scan multiple items at once</a:t>
                      </a:r>
                    </a:p>
                    <a:p>
                      <a:r>
                        <a:rPr lang="en-US" dirty="0">
                          <a:latin typeface="Times New Roman" panose="02020603050405020304" pitchFamily="18" charset="0"/>
                          <a:cs typeface="Times New Roman" panose="02020603050405020304" pitchFamily="18" charset="0"/>
                        </a:rPr>
                        <a:t>Can handle exposure to sun and rain</a:t>
                      </a:r>
                    </a:p>
                    <a:p>
                      <a:r>
                        <a:rPr lang="en-US" dirty="0">
                          <a:latin typeface="Times New Roman" panose="02020603050405020304" pitchFamily="18" charset="0"/>
                          <a:cs typeface="Times New Roman" panose="02020603050405020304" pitchFamily="18" charset="0"/>
                        </a:rPr>
                        <a:t>Not require sight visibility</a:t>
                      </a:r>
                    </a:p>
                    <a:p>
                      <a:r>
                        <a:rPr lang="en-US" dirty="0">
                          <a:latin typeface="Times New Roman" panose="02020603050405020304" pitchFamily="18" charset="0"/>
                          <a:cs typeface="Times New Roman" panose="02020603050405020304" pitchFamily="18" charset="0"/>
                        </a:rPr>
                        <a:t>Real – time management</a:t>
                      </a:r>
                    </a:p>
                  </a:txBody>
                  <a:tcPr/>
                </a:tc>
                <a:tc>
                  <a:txBody>
                    <a:bodyPr/>
                    <a:lstStyle/>
                    <a:p>
                      <a:r>
                        <a:rPr lang="en-US" dirty="0">
                          <a:latin typeface="Times New Roman" panose="02020603050405020304" pitchFamily="18" charset="0"/>
                          <a:cs typeface="Times New Roman" panose="02020603050405020304" pitchFamily="18" charset="0"/>
                        </a:rPr>
                        <a:t>Higher cost compared to barcode and QR code reader</a:t>
                      </a:r>
                    </a:p>
                    <a:p>
                      <a:r>
                        <a:rPr lang="en-US" dirty="0">
                          <a:latin typeface="Times New Roman" panose="02020603050405020304" pitchFamily="18" charset="0"/>
                          <a:cs typeface="Times New Roman" panose="02020603050405020304" pitchFamily="18" charset="0"/>
                        </a:rPr>
                        <a:t>Metal and liquid could affect the signal from tag </a:t>
                      </a:r>
                    </a:p>
                  </a:txBody>
                  <a:tcPr/>
                </a:tc>
                <a:extLst>
                  <a:ext uri="{0D108BD9-81ED-4DB2-BD59-A6C34878D82A}">
                    <a16:rowId xmlns:a16="http://schemas.microsoft.com/office/drawing/2014/main" val="1487581671"/>
                  </a:ext>
                </a:extLst>
              </a:tr>
              <a:tr h="371069">
                <a:tc>
                  <a:txBody>
                    <a:bodyPr/>
                    <a:lstStyle/>
                    <a:p>
                      <a:r>
                        <a:rPr lang="en-US" dirty="0">
                          <a:latin typeface="Times New Roman" panose="02020603050405020304" pitchFamily="18" charset="0"/>
                          <a:cs typeface="Times New Roman" panose="02020603050405020304" pitchFamily="18" charset="0"/>
                        </a:rPr>
                        <a:t>Computer vision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Real – time management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Scan multiple items at once</a:t>
                      </a:r>
                    </a:p>
                  </a:txBody>
                  <a:tcPr/>
                </a:tc>
                <a:tc>
                  <a:txBody>
                    <a:bodyPr/>
                    <a:lstStyle/>
                    <a:p>
                      <a:r>
                        <a:rPr lang="en-US" dirty="0">
                          <a:latin typeface="Times New Roman" panose="02020603050405020304" pitchFamily="18" charset="0"/>
                          <a:cs typeface="Times New Roman" panose="02020603050405020304" pitchFamily="18" charset="0"/>
                        </a:rPr>
                        <a:t>Expensive setup cost</a:t>
                      </a:r>
                    </a:p>
                    <a:p>
                      <a:r>
                        <a:rPr lang="en-US" dirty="0">
                          <a:latin typeface="Times New Roman" panose="02020603050405020304" pitchFamily="18" charset="0"/>
                          <a:cs typeface="Times New Roman" panose="02020603050405020304" pitchFamily="18" charset="0"/>
                        </a:rPr>
                        <a:t>Require object sight visibility</a:t>
                      </a:r>
                    </a:p>
                  </a:txBody>
                  <a:tcPr/>
                </a:tc>
                <a:extLst>
                  <a:ext uri="{0D108BD9-81ED-4DB2-BD59-A6C34878D82A}">
                    <a16:rowId xmlns:a16="http://schemas.microsoft.com/office/drawing/2014/main" val="961331583"/>
                  </a:ext>
                </a:extLst>
              </a:tr>
            </a:tbl>
          </a:graphicData>
        </a:graphic>
      </p:graphicFrame>
    </p:spTree>
    <p:extLst>
      <p:ext uri="{BB962C8B-B14F-4D97-AF65-F5344CB8AC3E}">
        <p14:creationId xmlns:p14="http://schemas.microsoft.com/office/powerpoint/2010/main" val="386526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1. Overview</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1.2 Labelling machine</a:t>
            </a: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Round Semi Automatic Sticker Labeling Machine, Model: Model SLM 100A,  Capacity: 20 Per Minute, Rs 59000 | ID: 3019104330">
            <a:extLst>
              <a:ext uri="{FF2B5EF4-FFF2-40B4-BE49-F238E27FC236}">
                <a16:creationId xmlns:a16="http://schemas.microsoft.com/office/drawing/2014/main" id="{62C7E4C7-8E15-41B9-BAF4-0DCC9102260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129388" y="2051498"/>
            <a:ext cx="4072198" cy="3459997"/>
          </a:xfrm>
          <a:prstGeom prst="rect">
            <a:avLst/>
          </a:prstGeom>
          <a:noFill/>
          <a:ln>
            <a:noFill/>
          </a:ln>
        </p:spPr>
      </p:pic>
      <p:pic>
        <p:nvPicPr>
          <p:cNvPr id="13" name="Picture 12">
            <a:extLst>
              <a:ext uri="{FF2B5EF4-FFF2-40B4-BE49-F238E27FC236}">
                <a16:creationId xmlns:a16="http://schemas.microsoft.com/office/drawing/2014/main" id="{E03B69AB-94E0-4C6B-ADBC-23F4AC670D58}"/>
              </a:ext>
            </a:extLst>
          </p:cNvPr>
          <p:cNvPicPr/>
          <p:nvPr/>
        </p:nvPicPr>
        <p:blipFill>
          <a:blip r:embed="rId3"/>
          <a:stretch>
            <a:fillRect/>
          </a:stretch>
        </p:blipFill>
        <p:spPr>
          <a:xfrm>
            <a:off x="5790236" y="2044204"/>
            <a:ext cx="5272376" cy="3459997"/>
          </a:xfrm>
          <a:prstGeom prst="rect">
            <a:avLst/>
          </a:prstGeom>
        </p:spPr>
      </p:pic>
      <p:sp>
        <p:nvSpPr>
          <p:cNvPr id="17" name="TextBox 16">
            <a:extLst>
              <a:ext uri="{FF2B5EF4-FFF2-40B4-BE49-F238E27FC236}">
                <a16:creationId xmlns:a16="http://schemas.microsoft.com/office/drawing/2014/main" id="{F268F318-4B6F-4BC0-918A-234A61FD68CB}"/>
              </a:ext>
            </a:extLst>
          </p:cNvPr>
          <p:cNvSpPr txBox="1"/>
          <p:nvPr/>
        </p:nvSpPr>
        <p:spPr>
          <a:xfrm>
            <a:off x="143435" y="5589616"/>
            <a:ext cx="11869271"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Note: 1 – Tag roll, 2 – Support roller, 3 – Lever, 4 – Bottle, 5 – Clamping roller, 6 – Tag dispenser, 7 – Active roller </a:t>
            </a:r>
          </a:p>
        </p:txBody>
      </p:sp>
      <p:sp>
        <p:nvSpPr>
          <p:cNvPr id="18" name="Content Placeholder 2">
            <a:extLst>
              <a:ext uri="{FF2B5EF4-FFF2-40B4-BE49-F238E27FC236}">
                <a16:creationId xmlns:a16="http://schemas.microsoft.com/office/drawing/2014/main" id="{BC18543B-FC84-4B88-AEF2-724533215A9A}"/>
              </a:ext>
            </a:extLst>
          </p:cNvPr>
          <p:cNvSpPr txBox="1">
            <a:spLocks/>
          </p:cNvSpPr>
          <p:nvPr/>
        </p:nvSpPr>
        <p:spPr>
          <a:xfrm>
            <a:off x="838201" y="1698196"/>
            <a:ext cx="10515599" cy="41407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1.2.1 Semi automatic bottle labelling machine</a:t>
            </a:r>
            <a:endParaRPr lang="en-US" sz="2400" dirty="0"/>
          </a:p>
        </p:txBody>
      </p:sp>
    </p:spTree>
    <p:extLst>
      <p:ext uri="{BB962C8B-B14F-4D97-AF65-F5344CB8AC3E}">
        <p14:creationId xmlns:p14="http://schemas.microsoft.com/office/powerpoint/2010/main" val="1350357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1. Overview</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1.2 Labelling machine</a:t>
            </a: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ontent Placeholder 2">
            <a:extLst>
              <a:ext uri="{FF2B5EF4-FFF2-40B4-BE49-F238E27FC236}">
                <a16:creationId xmlns:a16="http://schemas.microsoft.com/office/drawing/2014/main" id="{BC18543B-FC84-4B88-AEF2-724533215A9A}"/>
              </a:ext>
            </a:extLst>
          </p:cNvPr>
          <p:cNvSpPr txBox="1">
            <a:spLocks/>
          </p:cNvSpPr>
          <p:nvPr/>
        </p:nvSpPr>
        <p:spPr>
          <a:xfrm>
            <a:off x="838201" y="1698196"/>
            <a:ext cx="10515599" cy="41407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1.2.2 Automatic bottle labelling machine</a:t>
            </a:r>
            <a:endParaRPr lang="en-US" sz="2400" dirty="0"/>
          </a:p>
        </p:txBody>
      </p:sp>
      <p:sp>
        <p:nvSpPr>
          <p:cNvPr id="12" name="TextBox 11">
            <a:extLst>
              <a:ext uri="{FF2B5EF4-FFF2-40B4-BE49-F238E27FC236}">
                <a16:creationId xmlns:a16="http://schemas.microsoft.com/office/drawing/2014/main" id="{0FA1445D-3768-454C-9C38-EDC3BCC5D140}"/>
              </a:ext>
            </a:extLst>
          </p:cNvPr>
          <p:cNvSpPr txBox="1"/>
          <p:nvPr/>
        </p:nvSpPr>
        <p:spPr>
          <a:xfrm>
            <a:off x="838200" y="5599904"/>
            <a:ext cx="10731884" cy="458074"/>
          </a:xfrm>
          <a:prstGeom prst="rect">
            <a:avLst/>
          </a:prstGeom>
          <a:noFill/>
        </p:spPr>
        <p:txBody>
          <a:bodyPr wrap="square" rtlCol="0">
            <a:spAutoFit/>
          </a:bodyPr>
          <a:lstStyle/>
          <a:p>
            <a:pPr indent="457200">
              <a:lnSpc>
                <a:spcPct val="150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Note: 1 - Spring, 2 - Tag roll, 3 - Tensioner, 4 - Support roller, 5 - Tag dispenser, 6 - Active roller</a:t>
            </a:r>
          </a:p>
        </p:txBody>
      </p:sp>
      <p:pic>
        <p:nvPicPr>
          <p:cNvPr id="14" name="Picture 13" descr="China PVC Sleeve Labelling Machine Ce Approved (LB-100A) - China Labeling  Machine, Labeler">
            <a:extLst>
              <a:ext uri="{FF2B5EF4-FFF2-40B4-BE49-F238E27FC236}">
                <a16:creationId xmlns:a16="http://schemas.microsoft.com/office/drawing/2014/main" id="{18337E8E-FF8C-4DE5-995A-372B3312C70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2694839"/>
            <a:ext cx="2568345" cy="2393283"/>
          </a:xfrm>
          <a:prstGeom prst="rect">
            <a:avLst/>
          </a:prstGeom>
          <a:noFill/>
          <a:ln>
            <a:noFill/>
          </a:ln>
        </p:spPr>
      </p:pic>
      <p:pic>
        <p:nvPicPr>
          <p:cNvPr id="15" name="Picture 14">
            <a:extLst>
              <a:ext uri="{FF2B5EF4-FFF2-40B4-BE49-F238E27FC236}">
                <a16:creationId xmlns:a16="http://schemas.microsoft.com/office/drawing/2014/main" id="{05D50FD9-A289-4FAD-A664-4FF4192A06D3}"/>
              </a:ext>
            </a:extLst>
          </p:cNvPr>
          <p:cNvPicPr/>
          <p:nvPr/>
        </p:nvPicPr>
        <p:blipFill>
          <a:blip r:embed="rId3"/>
          <a:stretch>
            <a:fillRect/>
          </a:stretch>
        </p:blipFill>
        <p:spPr>
          <a:xfrm>
            <a:off x="3557466" y="2578212"/>
            <a:ext cx="4177886" cy="2853468"/>
          </a:xfrm>
          <a:prstGeom prst="rect">
            <a:avLst/>
          </a:prstGeom>
        </p:spPr>
      </p:pic>
      <p:pic>
        <p:nvPicPr>
          <p:cNvPr id="16" name="Picture 15">
            <a:extLst>
              <a:ext uri="{FF2B5EF4-FFF2-40B4-BE49-F238E27FC236}">
                <a16:creationId xmlns:a16="http://schemas.microsoft.com/office/drawing/2014/main" id="{1A86FE29-7384-4EBA-A0AD-81DD51BCB8B3}"/>
              </a:ext>
            </a:extLst>
          </p:cNvPr>
          <p:cNvPicPr/>
          <p:nvPr/>
        </p:nvPicPr>
        <p:blipFill>
          <a:blip r:embed="rId4"/>
          <a:stretch>
            <a:fillRect/>
          </a:stretch>
        </p:blipFill>
        <p:spPr>
          <a:xfrm>
            <a:off x="7502222" y="2848380"/>
            <a:ext cx="4177886" cy="2183513"/>
          </a:xfrm>
          <a:prstGeom prst="rect">
            <a:avLst/>
          </a:prstGeom>
        </p:spPr>
      </p:pic>
    </p:spTree>
    <p:extLst>
      <p:ext uri="{BB962C8B-B14F-4D97-AF65-F5344CB8AC3E}">
        <p14:creationId xmlns:p14="http://schemas.microsoft.com/office/powerpoint/2010/main" val="1620663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1. Overview</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1.1 The technology implemented in warehouse item tracking</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Content Placeholder 2">
                <a:extLst>
                  <a:ext uri="{FF2B5EF4-FFF2-40B4-BE49-F238E27FC236}">
                    <a16:creationId xmlns:a16="http://schemas.microsoft.com/office/drawing/2014/main" id="{B829A88E-78B4-4B03-864D-1610EFAAB182}"/>
                  </a:ext>
                </a:extLst>
              </p:cNvPr>
              <p:cNvSpPr txBox="1">
                <a:spLocks/>
              </p:cNvSpPr>
              <p:nvPr/>
            </p:nvSpPr>
            <p:spPr>
              <a:xfrm>
                <a:off x="838199" y="1687062"/>
                <a:ext cx="11084859" cy="22531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1.1.4 Design objective</a:t>
                </a: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Design a RFID labeling machine for carton box with the given specification:</a:t>
                </a: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Box dimension: </a:t>
                </a:r>
                <a:r>
                  <a:rPr lang="pl-PL" sz="2400" dirty="0">
                    <a:latin typeface="Times New Roman" panose="02020603050405020304" pitchFamily="18" charset="0"/>
                    <a:cs typeface="Times New Roman" panose="02020603050405020304" pitchFamily="18" charset="0"/>
                  </a:rPr>
                  <a:t>200(L) x 200(W) x 150(H)</a:t>
                </a:r>
                <a:r>
                  <a:rPr lang="en-US" sz="2400" dirty="0">
                    <a:latin typeface="Times New Roman" panose="02020603050405020304" pitchFamily="18" charset="0"/>
                    <a:cs typeface="Times New Roman" panose="02020603050405020304" pitchFamily="18" charset="0"/>
                  </a:rPr>
                  <a:t> mm</a:t>
                </a: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Box weight: 3kg</a:t>
                </a: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Productivity: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𝑄</m:t>
                    </m:r>
                    <m:r>
                      <a:rPr lang="en-US" sz="2400" b="0" i="1" smtClean="0">
                        <a:latin typeface="Cambria Math" panose="02040503050406030204" pitchFamily="18" charset="0"/>
                        <a:cs typeface="Times New Roman" panose="02020603050405020304" pitchFamily="18" charset="0"/>
                      </a:rPr>
                      <m:t>=</m:t>
                    </m:r>
                  </m:oMath>
                </a14:m>
                <a:r>
                  <a:rPr lang="en-US" sz="2400" dirty="0">
                    <a:latin typeface="Times New Roman" panose="02020603050405020304" pitchFamily="18" charset="0"/>
                    <a:cs typeface="Times New Roman" panose="02020603050405020304" pitchFamily="18" charset="0"/>
                  </a:rPr>
                  <a:t> 5000 boxes/ hour</a:t>
                </a:r>
              </a:p>
            </p:txBody>
          </p:sp>
        </mc:Choice>
        <mc:Fallback>
          <p:sp>
            <p:nvSpPr>
              <p:cNvPr id="8" name="Content Placeholder 2">
                <a:extLst>
                  <a:ext uri="{FF2B5EF4-FFF2-40B4-BE49-F238E27FC236}">
                    <a16:creationId xmlns:a16="http://schemas.microsoft.com/office/drawing/2014/main" id="{B829A88E-78B4-4B03-864D-1610EFAAB182}"/>
                  </a:ext>
                </a:extLst>
              </p:cNvPr>
              <p:cNvSpPr txBox="1">
                <a:spLocks noRot="1" noChangeAspect="1" noMove="1" noResize="1" noEditPoints="1" noAdjustHandles="1" noChangeArrowheads="1" noChangeShapeType="1" noTextEdit="1"/>
              </p:cNvSpPr>
              <p:nvPr/>
            </p:nvSpPr>
            <p:spPr>
              <a:xfrm>
                <a:off x="838199" y="1687062"/>
                <a:ext cx="11084859" cy="2253157"/>
              </a:xfrm>
              <a:prstGeom prst="rect">
                <a:avLst/>
              </a:prstGeom>
              <a:blipFill>
                <a:blip r:embed="rId2"/>
                <a:stretch>
                  <a:fillRect l="-825" t="-3794" b="-6233"/>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1385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2. Approaches</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2.1 Conveyor selection</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B829A88E-78B4-4B03-864D-1610EFAAB182}"/>
              </a:ext>
            </a:extLst>
          </p:cNvPr>
          <p:cNvSpPr txBox="1">
            <a:spLocks/>
          </p:cNvSpPr>
          <p:nvPr/>
        </p:nvSpPr>
        <p:spPr>
          <a:xfrm>
            <a:off x="1078639" y="4690482"/>
            <a:ext cx="10515598" cy="445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Choose belt conveyor</a:t>
            </a:r>
          </a:p>
          <a:p>
            <a:pPr marL="0" indent="0">
              <a:buFont typeface="Arial" panose="020B0604020202020204" pitchFamily="34" charset="0"/>
              <a:buNone/>
            </a:pPr>
            <a:endParaRPr lang="en-US" sz="2400" dirty="0"/>
          </a:p>
        </p:txBody>
      </p:sp>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5">
            <a:extLst>
              <a:ext uri="{FF2B5EF4-FFF2-40B4-BE49-F238E27FC236}">
                <a16:creationId xmlns:a16="http://schemas.microsoft.com/office/drawing/2014/main" id="{2BA3FFA5-36FC-46D5-BF5E-5B878F01C209}"/>
              </a:ext>
            </a:extLst>
          </p:cNvPr>
          <p:cNvGraphicFramePr>
            <a:graphicFrameLocks noGrp="1"/>
          </p:cNvGraphicFramePr>
          <p:nvPr>
            <p:extLst>
              <p:ext uri="{D42A27DB-BD31-4B8C-83A1-F6EECF244321}">
                <p14:modId xmlns:p14="http://schemas.microsoft.com/office/powerpoint/2010/main" val="721682349"/>
              </p:ext>
            </p:extLst>
          </p:nvPr>
        </p:nvGraphicFramePr>
        <p:xfrm>
          <a:off x="1094970" y="1817172"/>
          <a:ext cx="10499267" cy="2743200"/>
        </p:xfrm>
        <a:graphic>
          <a:graphicData uri="http://schemas.openxmlformats.org/drawingml/2006/table">
            <a:tbl>
              <a:tblPr firstRow="1" bandRow="1">
                <a:tableStyleId>{5C22544A-7EE6-4342-B048-85BDC9FD1C3A}</a:tableStyleId>
              </a:tblPr>
              <a:tblGrid>
                <a:gridCol w="1745884">
                  <a:extLst>
                    <a:ext uri="{9D8B030D-6E8A-4147-A177-3AD203B41FA5}">
                      <a16:colId xmlns:a16="http://schemas.microsoft.com/office/drawing/2014/main" val="2576529349"/>
                    </a:ext>
                  </a:extLst>
                </a:gridCol>
                <a:gridCol w="4580878">
                  <a:extLst>
                    <a:ext uri="{9D8B030D-6E8A-4147-A177-3AD203B41FA5}">
                      <a16:colId xmlns:a16="http://schemas.microsoft.com/office/drawing/2014/main" val="616237950"/>
                    </a:ext>
                  </a:extLst>
                </a:gridCol>
                <a:gridCol w="4172505">
                  <a:extLst>
                    <a:ext uri="{9D8B030D-6E8A-4147-A177-3AD203B41FA5}">
                      <a16:colId xmlns:a16="http://schemas.microsoft.com/office/drawing/2014/main" val="2976739688"/>
                    </a:ext>
                  </a:extLst>
                </a:gridCol>
              </a:tblGrid>
              <a:tr h="226737">
                <a:tc>
                  <a:txBody>
                    <a:bodyPr/>
                    <a:lstStyle/>
                    <a:p>
                      <a:pPr algn="ctr"/>
                      <a:endParaRPr lang="en-US" dirty="0"/>
                    </a:p>
                  </a:txBody>
                  <a:tcPr/>
                </a:tc>
                <a:tc>
                  <a:txBody>
                    <a:bodyPr/>
                    <a:lstStyle/>
                    <a:p>
                      <a:pPr algn="ctr"/>
                      <a:r>
                        <a:rPr lang="en-US" dirty="0"/>
                        <a:t>Pros</a:t>
                      </a:r>
                    </a:p>
                  </a:txBody>
                  <a:tcPr/>
                </a:tc>
                <a:tc>
                  <a:txBody>
                    <a:bodyPr/>
                    <a:lstStyle/>
                    <a:p>
                      <a:pPr algn="ctr"/>
                      <a:r>
                        <a:rPr lang="en-US" dirty="0"/>
                        <a:t>Cons</a:t>
                      </a:r>
                    </a:p>
                  </a:txBody>
                  <a:tcPr/>
                </a:tc>
                <a:extLst>
                  <a:ext uri="{0D108BD9-81ED-4DB2-BD59-A6C34878D82A}">
                    <a16:rowId xmlns:a16="http://schemas.microsoft.com/office/drawing/2014/main" val="388929811"/>
                  </a:ext>
                </a:extLst>
              </a:tr>
              <a:tr h="370840">
                <a:tc>
                  <a:txBody>
                    <a:bodyPr/>
                    <a:lstStyle/>
                    <a:p>
                      <a:r>
                        <a:rPr lang="en-US" dirty="0"/>
                        <a:t>Belt conveyor</a:t>
                      </a:r>
                    </a:p>
                  </a:txBody>
                  <a:tcPr/>
                </a:tc>
                <a:tc>
                  <a:txBody>
                    <a:bodyPr/>
                    <a:lstStyle/>
                    <a:p>
                      <a:pPr marL="285750" indent="-285750">
                        <a:buFont typeface="Arial" panose="020B0604020202020204" pitchFamily="34" charset="0"/>
                        <a:buChar char="•"/>
                      </a:pPr>
                      <a:r>
                        <a:rPr lang="en-US" dirty="0"/>
                        <a:t>Lowest cost</a:t>
                      </a:r>
                    </a:p>
                    <a:p>
                      <a:pPr marL="285750" indent="-285750">
                        <a:buFont typeface="Arial" panose="020B0604020202020204" pitchFamily="34" charset="0"/>
                        <a:buChar char="•"/>
                      </a:pPr>
                      <a:r>
                        <a:rPr lang="en-US" dirty="0"/>
                        <a:t>Smooth operation and noiseless</a:t>
                      </a:r>
                    </a:p>
                    <a:p>
                      <a:pPr marL="285750" indent="-285750">
                        <a:buFont typeface="Arial" panose="020B0604020202020204" pitchFamily="34" charset="0"/>
                        <a:buChar char="•"/>
                      </a:pPr>
                      <a:r>
                        <a:rPr lang="en-US" dirty="0"/>
                        <a:t>Suitable for products that need gentle care</a:t>
                      </a:r>
                    </a:p>
                    <a:p>
                      <a:pPr marL="285750" indent="-285750">
                        <a:buFont typeface="Arial" panose="020B0604020202020204" pitchFamily="34" charset="0"/>
                        <a:buChar char="•"/>
                      </a:pPr>
                      <a:r>
                        <a:rPr lang="en-US" dirty="0"/>
                        <a:t>Can operate at high speed</a:t>
                      </a:r>
                    </a:p>
                    <a:p>
                      <a:pPr marL="285750" indent="-285750">
                        <a:buFont typeface="Arial" panose="020B0604020202020204" pitchFamily="34" charset="0"/>
                        <a:buChar char="•"/>
                      </a:pPr>
                      <a:endParaRPr lang="en-US" dirty="0"/>
                    </a:p>
                  </a:txBody>
                  <a:tcPr/>
                </a:tc>
                <a:tc>
                  <a:txBody>
                    <a:bodyPr/>
                    <a:lstStyle/>
                    <a:p>
                      <a:pPr marL="285750" indent="-285750">
                        <a:buFont typeface="Arial" panose="020B0604020202020204" pitchFamily="34" charset="0"/>
                        <a:buChar char="•"/>
                      </a:pPr>
                      <a:r>
                        <a:rPr lang="en-US" dirty="0"/>
                        <a:t>Low efficiency</a:t>
                      </a:r>
                    </a:p>
                    <a:p>
                      <a:pPr marL="285750" indent="-285750">
                        <a:buFont typeface="Arial" panose="020B0604020202020204" pitchFamily="34" charset="0"/>
                        <a:buChar char="•"/>
                      </a:pPr>
                      <a:r>
                        <a:rPr lang="en-US" dirty="0"/>
                        <a:t>Not suitable for heavy load</a:t>
                      </a:r>
                    </a:p>
                  </a:txBody>
                  <a:tcPr/>
                </a:tc>
                <a:extLst>
                  <a:ext uri="{0D108BD9-81ED-4DB2-BD59-A6C34878D82A}">
                    <a16:rowId xmlns:a16="http://schemas.microsoft.com/office/drawing/2014/main" val="1990733384"/>
                  </a:ext>
                </a:extLst>
              </a:tr>
              <a:tr h="370840">
                <a:tc>
                  <a:txBody>
                    <a:bodyPr/>
                    <a:lstStyle/>
                    <a:p>
                      <a:r>
                        <a:rPr lang="en-US" dirty="0"/>
                        <a:t>Chain conveyor</a:t>
                      </a:r>
                    </a:p>
                  </a:txBody>
                  <a:tcPr/>
                </a:tc>
                <a:tc>
                  <a:txBody>
                    <a:bodyPr/>
                    <a:lstStyle/>
                    <a:p>
                      <a:pPr marL="285750" indent="-285750">
                        <a:buFont typeface="Arial" panose="020B0604020202020204" pitchFamily="34" charset="0"/>
                        <a:buChar char="•"/>
                      </a:pPr>
                      <a:r>
                        <a:rPr lang="en-US" dirty="0"/>
                        <a:t>Able to carry heavy load</a:t>
                      </a:r>
                    </a:p>
                    <a:p>
                      <a:pPr marL="285750" indent="-285750">
                        <a:buFont typeface="Arial" panose="020B0604020202020204" pitchFamily="34" charset="0"/>
                        <a:buChar char="•"/>
                      </a:pPr>
                      <a:r>
                        <a:rPr lang="en-US" dirty="0"/>
                        <a:t>High efficiency</a:t>
                      </a:r>
                    </a:p>
                  </a:txBody>
                  <a:tcPr/>
                </a:tc>
                <a:tc>
                  <a:txBody>
                    <a:bodyPr/>
                    <a:lstStyle/>
                    <a:p>
                      <a:pPr marL="285750" indent="-285750">
                        <a:buFont typeface="Arial" panose="020B0604020202020204" pitchFamily="34" charset="0"/>
                        <a:buChar char="•"/>
                      </a:pPr>
                      <a:r>
                        <a:rPr lang="en-US" dirty="0"/>
                        <a:t>Low speed</a:t>
                      </a:r>
                    </a:p>
                    <a:p>
                      <a:pPr marL="285750" indent="-285750">
                        <a:buFont typeface="Arial" panose="020B0604020202020204" pitchFamily="34" charset="0"/>
                        <a:buChar char="•"/>
                      </a:pPr>
                      <a:r>
                        <a:rPr lang="en-US" dirty="0"/>
                        <a:t>Noisy</a:t>
                      </a:r>
                    </a:p>
                    <a:p>
                      <a:pPr marL="285750" indent="-285750">
                        <a:buFont typeface="Arial" panose="020B0604020202020204" pitchFamily="34" charset="0"/>
                        <a:buChar char="•"/>
                      </a:pPr>
                      <a:r>
                        <a:rPr lang="en-US" dirty="0"/>
                        <a:t>Not suitable for fragile product</a:t>
                      </a:r>
                    </a:p>
                  </a:txBody>
                  <a:tcPr/>
                </a:tc>
                <a:extLst>
                  <a:ext uri="{0D108BD9-81ED-4DB2-BD59-A6C34878D82A}">
                    <a16:rowId xmlns:a16="http://schemas.microsoft.com/office/drawing/2014/main" val="3661992347"/>
                  </a:ext>
                </a:extLst>
              </a:tr>
            </a:tbl>
          </a:graphicData>
        </a:graphic>
      </p:graphicFrame>
    </p:spTree>
    <p:extLst>
      <p:ext uri="{BB962C8B-B14F-4D97-AF65-F5344CB8AC3E}">
        <p14:creationId xmlns:p14="http://schemas.microsoft.com/office/powerpoint/2010/main" val="1552389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2. Approaches</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2.2 Motor selection</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B829A88E-78B4-4B03-864D-1610EFAAB182}"/>
              </a:ext>
            </a:extLst>
          </p:cNvPr>
          <p:cNvSpPr txBox="1">
            <a:spLocks/>
          </p:cNvSpPr>
          <p:nvPr/>
        </p:nvSpPr>
        <p:spPr>
          <a:xfrm>
            <a:off x="1078639" y="4690482"/>
            <a:ext cx="10515598" cy="445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Choose stepper motor</a:t>
            </a:r>
            <a:endParaRPr lang="en-US" sz="2400" dirty="0"/>
          </a:p>
        </p:txBody>
      </p:sp>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5">
            <a:extLst>
              <a:ext uri="{FF2B5EF4-FFF2-40B4-BE49-F238E27FC236}">
                <a16:creationId xmlns:a16="http://schemas.microsoft.com/office/drawing/2014/main" id="{2BA3FFA5-36FC-46D5-BF5E-5B878F01C209}"/>
              </a:ext>
            </a:extLst>
          </p:cNvPr>
          <p:cNvGraphicFramePr>
            <a:graphicFrameLocks noGrp="1"/>
          </p:cNvGraphicFramePr>
          <p:nvPr>
            <p:extLst>
              <p:ext uri="{D42A27DB-BD31-4B8C-83A1-F6EECF244321}">
                <p14:modId xmlns:p14="http://schemas.microsoft.com/office/powerpoint/2010/main" val="482072659"/>
              </p:ext>
            </p:extLst>
          </p:nvPr>
        </p:nvGraphicFramePr>
        <p:xfrm>
          <a:off x="1094970" y="1817172"/>
          <a:ext cx="10499267" cy="2194560"/>
        </p:xfrm>
        <a:graphic>
          <a:graphicData uri="http://schemas.openxmlformats.org/drawingml/2006/table">
            <a:tbl>
              <a:tblPr firstRow="1" bandRow="1">
                <a:tableStyleId>{5C22544A-7EE6-4342-B048-85BDC9FD1C3A}</a:tableStyleId>
              </a:tblPr>
              <a:tblGrid>
                <a:gridCol w="1745884">
                  <a:extLst>
                    <a:ext uri="{9D8B030D-6E8A-4147-A177-3AD203B41FA5}">
                      <a16:colId xmlns:a16="http://schemas.microsoft.com/office/drawing/2014/main" val="2576529349"/>
                    </a:ext>
                  </a:extLst>
                </a:gridCol>
                <a:gridCol w="4580878">
                  <a:extLst>
                    <a:ext uri="{9D8B030D-6E8A-4147-A177-3AD203B41FA5}">
                      <a16:colId xmlns:a16="http://schemas.microsoft.com/office/drawing/2014/main" val="616237950"/>
                    </a:ext>
                  </a:extLst>
                </a:gridCol>
                <a:gridCol w="4172505">
                  <a:extLst>
                    <a:ext uri="{9D8B030D-6E8A-4147-A177-3AD203B41FA5}">
                      <a16:colId xmlns:a16="http://schemas.microsoft.com/office/drawing/2014/main" val="2976739688"/>
                    </a:ext>
                  </a:extLst>
                </a:gridCol>
              </a:tblGrid>
              <a:tr h="226737">
                <a:tc>
                  <a:txBody>
                    <a:bodyPr/>
                    <a:lstStyle/>
                    <a:p>
                      <a:pPr algn="ctr"/>
                      <a:endParaRPr lang="en-US" dirty="0"/>
                    </a:p>
                  </a:txBody>
                  <a:tcPr/>
                </a:tc>
                <a:tc>
                  <a:txBody>
                    <a:bodyPr/>
                    <a:lstStyle/>
                    <a:p>
                      <a:pPr algn="ctr"/>
                      <a:r>
                        <a:rPr lang="en-US" dirty="0"/>
                        <a:t>Pros</a:t>
                      </a:r>
                    </a:p>
                  </a:txBody>
                  <a:tcPr/>
                </a:tc>
                <a:tc>
                  <a:txBody>
                    <a:bodyPr/>
                    <a:lstStyle/>
                    <a:p>
                      <a:pPr algn="ctr"/>
                      <a:r>
                        <a:rPr lang="en-US" dirty="0"/>
                        <a:t>Cons</a:t>
                      </a:r>
                    </a:p>
                  </a:txBody>
                  <a:tcPr/>
                </a:tc>
                <a:extLst>
                  <a:ext uri="{0D108BD9-81ED-4DB2-BD59-A6C34878D82A}">
                    <a16:rowId xmlns:a16="http://schemas.microsoft.com/office/drawing/2014/main" val="388929811"/>
                  </a:ext>
                </a:extLst>
              </a:tr>
              <a:tr h="370840">
                <a:tc>
                  <a:txBody>
                    <a:bodyPr/>
                    <a:lstStyle/>
                    <a:p>
                      <a:r>
                        <a:rPr lang="en-US" dirty="0"/>
                        <a:t>Stepper motor</a:t>
                      </a:r>
                    </a:p>
                  </a:txBody>
                  <a:tcPr/>
                </a:tc>
                <a:tc>
                  <a:txBody>
                    <a:bodyPr/>
                    <a:lstStyle/>
                    <a:p>
                      <a:pPr marL="285750" indent="-285750">
                        <a:buFont typeface="Arial" panose="020B0604020202020204" pitchFamily="34" charset="0"/>
                        <a:buChar char="•"/>
                      </a:pPr>
                      <a:r>
                        <a:rPr lang="en-US" dirty="0"/>
                        <a:t>Lowest cost</a:t>
                      </a:r>
                    </a:p>
                    <a:p>
                      <a:pPr marL="285750" indent="-285750">
                        <a:buFont typeface="Arial" panose="020B0604020202020204" pitchFamily="34" charset="0"/>
                        <a:buChar char="•"/>
                      </a:pPr>
                      <a:r>
                        <a:rPr lang="en-US" dirty="0"/>
                        <a:t>High torque at low speed</a:t>
                      </a:r>
                    </a:p>
                  </a:txBody>
                  <a:tcPr/>
                </a:tc>
                <a:tc>
                  <a:txBody>
                    <a:bodyPr/>
                    <a:lstStyle/>
                    <a:p>
                      <a:pPr marL="285750" indent="-285750">
                        <a:buFont typeface="Arial" panose="020B0604020202020204" pitchFamily="34" charset="0"/>
                        <a:buChar char="•"/>
                      </a:pPr>
                      <a:r>
                        <a:rPr lang="en-US" dirty="0"/>
                        <a:t>Lose torque at high speed</a:t>
                      </a:r>
                    </a:p>
                    <a:p>
                      <a:pPr marL="285750" indent="-285750">
                        <a:buFont typeface="Arial" panose="020B0604020202020204" pitchFamily="34" charset="0"/>
                        <a:buChar char="•"/>
                      </a:pPr>
                      <a:r>
                        <a:rPr lang="en-US" dirty="0"/>
                        <a:t>High vibration level</a:t>
                      </a:r>
                    </a:p>
                    <a:p>
                      <a:pPr marL="285750" indent="-285750">
                        <a:buFont typeface="Arial" panose="020B0604020202020204" pitchFamily="34" charset="0"/>
                        <a:buChar char="•"/>
                      </a:pPr>
                      <a:r>
                        <a:rPr lang="en-US" dirty="0"/>
                        <a:t>Produce high amount of heat</a:t>
                      </a:r>
                    </a:p>
                  </a:txBody>
                  <a:tcPr/>
                </a:tc>
                <a:extLst>
                  <a:ext uri="{0D108BD9-81ED-4DB2-BD59-A6C34878D82A}">
                    <a16:rowId xmlns:a16="http://schemas.microsoft.com/office/drawing/2014/main" val="1990733384"/>
                  </a:ext>
                </a:extLst>
              </a:tr>
              <a:tr h="370840">
                <a:tc>
                  <a:txBody>
                    <a:bodyPr/>
                    <a:lstStyle/>
                    <a:p>
                      <a:r>
                        <a:rPr lang="en-US" dirty="0"/>
                        <a:t>Servo motor</a:t>
                      </a:r>
                    </a:p>
                  </a:txBody>
                  <a:tcPr/>
                </a:tc>
                <a:tc>
                  <a:txBody>
                    <a:bodyPr/>
                    <a:lstStyle/>
                    <a:p>
                      <a:pPr marL="285750" indent="-285750">
                        <a:buFont typeface="Arial" panose="020B0604020202020204" pitchFamily="34" charset="0"/>
                        <a:buChar char="•"/>
                      </a:pPr>
                      <a:r>
                        <a:rPr lang="en-US" dirty="0"/>
                        <a:t>High torque at high speed</a:t>
                      </a:r>
                    </a:p>
                    <a:p>
                      <a:pPr marL="285750" indent="-285750">
                        <a:buFont typeface="Arial" panose="020B0604020202020204" pitchFamily="34" charset="0"/>
                        <a:buChar char="•"/>
                      </a:pPr>
                      <a:r>
                        <a:rPr lang="en-US" dirty="0"/>
                        <a:t>High efficiency</a:t>
                      </a:r>
                    </a:p>
                    <a:p>
                      <a:pPr marL="285750" indent="-285750">
                        <a:buFont typeface="Arial" panose="020B0604020202020204" pitchFamily="34" charset="0"/>
                        <a:buChar char="•"/>
                      </a:pPr>
                      <a:r>
                        <a:rPr lang="en-US" dirty="0"/>
                        <a:t>Low vibration level and resonant issue</a:t>
                      </a:r>
                    </a:p>
                  </a:txBody>
                  <a:tcPr/>
                </a:tc>
                <a:tc>
                  <a:txBody>
                    <a:bodyPr/>
                    <a:lstStyle/>
                    <a:p>
                      <a:pPr marL="285750" indent="-285750">
                        <a:buFont typeface="Arial" panose="020B0604020202020204" pitchFamily="34" charset="0"/>
                        <a:buChar char="•"/>
                      </a:pPr>
                      <a:r>
                        <a:rPr lang="en-US" dirty="0"/>
                        <a:t>High cost</a:t>
                      </a:r>
                    </a:p>
                  </a:txBody>
                  <a:tcPr/>
                </a:tc>
                <a:extLst>
                  <a:ext uri="{0D108BD9-81ED-4DB2-BD59-A6C34878D82A}">
                    <a16:rowId xmlns:a16="http://schemas.microsoft.com/office/drawing/2014/main" val="3661992347"/>
                  </a:ext>
                </a:extLst>
              </a:tr>
            </a:tbl>
          </a:graphicData>
        </a:graphic>
      </p:graphicFrame>
    </p:spTree>
    <p:extLst>
      <p:ext uri="{BB962C8B-B14F-4D97-AF65-F5344CB8AC3E}">
        <p14:creationId xmlns:p14="http://schemas.microsoft.com/office/powerpoint/2010/main" val="2387145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2. Approaches</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2.3 Proximity sensor selection</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B829A88E-78B4-4B03-864D-1610EFAAB182}"/>
              </a:ext>
            </a:extLst>
          </p:cNvPr>
          <p:cNvSpPr txBox="1">
            <a:spLocks/>
          </p:cNvSpPr>
          <p:nvPr/>
        </p:nvSpPr>
        <p:spPr>
          <a:xfrm>
            <a:off x="1078639" y="4690482"/>
            <a:ext cx="10515598" cy="445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Choose photoelectric sensor</a:t>
            </a:r>
            <a:endParaRPr lang="en-US" sz="2400" dirty="0"/>
          </a:p>
        </p:txBody>
      </p:sp>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5">
            <a:extLst>
              <a:ext uri="{FF2B5EF4-FFF2-40B4-BE49-F238E27FC236}">
                <a16:creationId xmlns:a16="http://schemas.microsoft.com/office/drawing/2014/main" id="{2BA3FFA5-36FC-46D5-BF5E-5B878F01C209}"/>
              </a:ext>
            </a:extLst>
          </p:cNvPr>
          <p:cNvGraphicFramePr>
            <a:graphicFrameLocks noGrp="1"/>
          </p:cNvGraphicFramePr>
          <p:nvPr>
            <p:extLst>
              <p:ext uri="{D42A27DB-BD31-4B8C-83A1-F6EECF244321}">
                <p14:modId xmlns:p14="http://schemas.microsoft.com/office/powerpoint/2010/main" val="3911713309"/>
              </p:ext>
            </p:extLst>
          </p:nvPr>
        </p:nvGraphicFramePr>
        <p:xfrm>
          <a:off x="1094970" y="1817172"/>
          <a:ext cx="10499267" cy="2834640"/>
        </p:xfrm>
        <a:graphic>
          <a:graphicData uri="http://schemas.openxmlformats.org/drawingml/2006/table">
            <a:tbl>
              <a:tblPr firstRow="1" bandRow="1">
                <a:tableStyleId>{5C22544A-7EE6-4342-B048-85BDC9FD1C3A}</a:tableStyleId>
              </a:tblPr>
              <a:tblGrid>
                <a:gridCol w="1745884">
                  <a:extLst>
                    <a:ext uri="{9D8B030D-6E8A-4147-A177-3AD203B41FA5}">
                      <a16:colId xmlns:a16="http://schemas.microsoft.com/office/drawing/2014/main" val="2576529349"/>
                    </a:ext>
                  </a:extLst>
                </a:gridCol>
                <a:gridCol w="4580878">
                  <a:extLst>
                    <a:ext uri="{9D8B030D-6E8A-4147-A177-3AD203B41FA5}">
                      <a16:colId xmlns:a16="http://schemas.microsoft.com/office/drawing/2014/main" val="616237950"/>
                    </a:ext>
                  </a:extLst>
                </a:gridCol>
                <a:gridCol w="4172505">
                  <a:extLst>
                    <a:ext uri="{9D8B030D-6E8A-4147-A177-3AD203B41FA5}">
                      <a16:colId xmlns:a16="http://schemas.microsoft.com/office/drawing/2014/main" val="2976739688"/>
                    </a:ext>
                  </a:extLst>
                </a:gridCol>
              </a:tblGrid>
              <a:tr h="226737">
                <a:tc>
                  <a:txBody>
                    <a:bodyPr/>
                    <a:lstStyle/>
                    <a:p>
                      <a:pPr algn="ctr"/>
                      <a:endParaRPr lang="en-US" dirty="0"/>
                    </a:p>
                  </a:txBody>
                  <a:tcPr/>
                </a:tc>
                <a:tc>
                  <a:txBody>
                    <a:bodyPr/>
                    <a:lstStyle/>
                    <a:p>
                      <a:pPr algn="ctr"/>
                      <a:r>
                        <a:rPr lang="en-US" dirty="0"/>
                        <a:t>Pros</a:t>
                      </a:r>
                    </a:p>
                  </a:txBody>
                  <a:tcPr/>
                </a:tc>
                <a:tc>
                  <a:txBody>
                    <a:bodyPr/>
                    <a:lstStyle/>
                    <a:p>
                      <a:pPr algn="ctr"/>
                      <a:r>
                        <a:rPr lang="en-US" dirty="0"/>
                        <a:t>Cons</a:t>
                      </a:r>
                    </a:p>
                  </a:txBody>
                  <a:tcPr/>
                </a:tc>
                <a:extLst>
                  <a:ext uri="{0D108BD9-81ED-4DB2-BD59-A6C34878D82A}">
                    <a16:rowId xmlns:a16="http://schemas.microsoft.com/office/drawing/2014/main" val="388929811"/>
                  </a:ext>
                </a:extLst>
              </a:tr>
              <a:tr h="370840">
                <a:tc>
                  <a:txBody>
                    <a:bodyPr/>
                    <a:lstStyle/>
                    <a:p>
                      <a:r>
                        <a:rPr lang="en-US" dirty="0"/>
                        <a:t>Limit switch</a:t>
                      </a:r>
                    </a:p>
                  </a:txBody>
                  <a:tcPr/>
                </a:tc>
                <a:tc>
                  <a:txBody>
                    <a:bodyPr/>
                    <a:lstStyle/>
                    <a:p>
                      <a:pPr marL="285750" indent="-285750">
                        <a:buFont typeface="Arial" panose="020B0604020202020204" pitchFamily="34" charset="0"/>
                        <a:buChar char="•"/>
                      </a:pPr>
                      <a:r>
                        <a:rPr lang="en-US" dirty="0"/>
                        <a:t>Not affected by noise</a:t>
                      </a:r>
                    </a:p>
                    <a:p>
                      <a:pPr marL="285750" indent="-285750">
                        <a:buFont typeface="Arial" panose="020B0604020202020204" pitchFamily="34" charset="0"/>
                        <a:buChar char="•"/>
                      </a:pPr>
                      <a:r>
                        <a:rPr lang="en-US" dirty="0"/>
                        <a:t>High current capability</a:t>
                      </a:r>
                    </a:p>
                  </a:txBody>
                  <a:tcPr/>
                </a:tc>
                <a:tc>
                  <a:txBody>
                    <a:bodyPr/>
                    <a:lstStyle/>
                    <a:p>
                      <a:pPr marL="285750" indent="-285750">
                        <a:buFont typeface="Arial" panose="020B0604020202020204" pitchFamily="34" charset="0"/>
                        <a:buChar char="•"/>
                      </a:pPr>
                      <a:r>
                        <a:rPr lang="en-US" dirty="0"/>
                        <a:t>Contact bounce</a:t>
                      </a:r>
                    </a:p>
                    <a:p>
                      <a:pPr marL="285750" indent="-285750">
                        <a:buFont typeface="Arial" panose="020B0604020202020204" pitchFamily="34" charset="0"/>
                        <a:buChar char="•"/>
                      </a:pPr>
                      <a:r>
                        <a:rPr lang="en-US" dirty="0"/>
                        <a:t>Required physical contact with object</a:t>
                      </a:r>
                    </a:p>
                    <a:p>
                      <a:pPr marL="285750" indent="-285750">
                        <a:buFont typeface="Arial" panose="020B0604020202020204" pitchFamily="34" charset="0"/>
                        <a:buChar char="•"/>
                      </a:pPr>
                      <a:r>
                        <a:rPr lang="en-US" dirty="0"/>
                        <a:t>Long response time</a:t>
                      </a:r>
                    </a:p>
                  </a:txBody>
                  <a:tcPr/>
                </a:tc>
                <a:extLst>
                  <a:ext uri="{0D108BD9-81ED-4DB2-BD59-A6C34878D82A}">
                    <a16:rowId xmlns:a16="http://schemas.microsoft.com/office/drawing/2014/main" val="1990733384"/>
                  </a:ext>
                </a:extLst>
              </a:tr>
              <a:tr h="370840">
                <a:tc>
                  <a:txBody>
                    <a:bodyPr/>
                    <a:lstStyle/>
                    <a:p>
                      <a:r>
                        <a:rPr lang="en-US" dirty="0"/>
                        <a:t>Photoelectric sensor</a:t>
                      </a:r>
                    </a:p>
                  </a:txBody>
                  <a:tcPr/>
                </a:tc>
                <a:tc>
                  <a:txBody>
                    <a:bodyPr/>
                    <a:lstStyle/>
                    <a:p>
                      <a:pPr marL="285750" indent="-285750">
                        <a:buFont typeface="Arial" panose="020B0604020202020204" pitchFamily="34" charset="0"/>
                        <a:buChar char="•"/>
                      </a:pPr>
                      <a:r>
                        <a:rPr lang="en-US" dirty="0"/>
                        <a:t>Fast response time</a:t>
                      </a:r>
                    </a:p>
                    <a:p>
                      <a:pPr marL="285750" indent="-285750">
                        <a:buFont typeface="Arial" panose="020B0604020202020204" pitchFamily="34" charset="0"/>
                        <a:buChar char="•"/>
                      </a:pPr>
                      <a:r>
                        <a:rPr lang="en-US" dirty="0"/>
                        <a:t>Sensing all kind of material</a:t>
                      </a:r>
                    </a:p>
                  </a:txBody>
                  <a:tcPr/>
                </a:tc>
                <a:tc>
                  <a:txBody>
                    <a:bodyPr/>
                    <a:lstStyle/>
                    <a:p>
                      <a:pPr marL="285750" indent="-285750">
                        <a:buFont typeface="Arial" panose="020B0604020202020204" pitchFamily="34" charset="0"/>
                        <a:buChar char="•"/>
                      </a:pPr>
                      <a:r>
                        <a:rPr lang="en-US" dirty="0"/>
                        <a:t>Object color could affect sensibility</a:t>
                      </a:r>
                    </a:p>
                    <a:p>
                      <a:pPr marL="285750" indent="-285750">
                        <a:buFont typeface="Arial" panose="020B0604020202020204" pitchFamily="34" charset="0"/>
                        <a:buChar char="•"/>
                      </a:pPr>
                      <a:r>
                        <a:rPr lang="en-US" dirty="0"/>
                        <a:t>Noised by light source</a:t>
                      </a:r>
                    </a:p>
                    <a:p>
                      <a:pPr marL="285750" indent="-285750">
                        <a:buFont typeface="Arial" panose="020B0604020202020204" pitchFamily="34" charset="0"/>
                        <a:buChar char="•"/>
                      </a:pPr>
                      <a:r>
                        <a:rPr lang="en-US" dirty="0"/>
                        <a:t>Len subject to contamination</a:t>
                      </a:r>
                    </a:p>
                  </a:txBody>
                  <a:tcPr/>
                </a:tc>
                <a:extLst>
                  <a:ext uri="{0D108BD9-81ED-4DB2-BD59-A6C34878D82A}">
                    <a16:rowId xmlns:a16="http://schemas.microsoft.com/office/drawing/2014/main" val="3661992347"/>
                  </a:ext>
                </a:extLst>
              </a:tr>
              <a:tr h="370840">
                <a:tc>
                  <a:txBody>
                    <a:bodyPr/>
                    <a:lstStyle/>
                    <a:p>
                      <a:r>
                        <a:rPr lang="en-US" dirty="0"/>
                        <a:t>Ultrasonic sensor</a:t>
                      </a:r>
                    </a:p>
                  </a:txBody>
                  <a:tcPr/>
                </a:tc>
                <a:tc>
                  <a:txBody>
                    <a:bodyPr/>
                    <a:lstStyle/>
                    <a:p>
                      <a:pPr marL="285750" indent="-285750">
                        <a:buFont typeface="Arial" panose="020B0604020202020204" pitchFamily="34" charset="0"/>
                        <a:buChar char="•"/>
                      </a:pPr>
                      <a:r>
                        <a:rPr lang="en-US" dirty="0"/>
                        <a:t>Sensing all kind of material</a:t>
                      </a:r>
                    </a:p>
                    <a:p>
                      <a:pPr marL="285750" indent="-285750">
                        <a:buFont typeface="Arial" panose="020B0604020202020204" pitchFamily="34" charset="0"/>
                        <a:buChar char="•"/>
                      </a:pPr>
                      <a:r>
                        <a:rPr lang="en-US" dirty="0"/>
                        <a:t>Not affected by object color</a:t>
                      </a:r>
                    </a:p>
                  </a:txBody>
                  <a:tcPr/>
                </a:tc>
                <a:tc>
                  <a:txBody>
                    <a:bodyPr/>
                    <a:lstStyle/>
                    <a:p>
                      <a:pPr marL="285750" indent="-285750">
                        <a:buFont typeface="Arial" panose="020B0604020202020204" pitchFamily="34" charset="0"/>
                        <a:buChar char="•"/>
                      </a:pPr>
                      <a:r>
                        <a:rPr lang="en-US" dirty="0"/>
                        <a:t>Long response time</a:t>
                      </a:r>
                    </a:p>
                    <a:p>
                      <a:pPr marL="285750" indent="-285750">
                        <a:buFont typeface="Arial" panose="020B0604020202020204" pitchFamily="34" charset="0"/>
                        <a:buChar char="•"/>
                      </a:pPr>
                      <a:r>
                        <a:rPr lang="en-US" dirty="0"/>
                        <a:t>Sensitive to temperature variation</a:t>
                      </a:r>
                    </a:p>
                  </a:txBody>
                  <a:tcPr/>
                </a:tc>
                <a:extLst>
                  <a:ext uri="{0D108BD9-81ED-4DB2-BD59-A6C34878D82A}">
                    <a16:rowId xmlns:a16="http://schemas.microsoft.com/office/drawing/2014/main" val="3591171058"/>
                  </a:ext>
                </a:extLst>
              </a:tr>
            </a:tbl>
          </a:graphicData>
        </a:graphic>
      </p:graphicFrame>
    </p:spTree>
    <p:extLst>
      <p:ext uri="{BB962C8B-B14F-4D97-AF65-F5344CB8AC3E}">
        <p14:creationId xmlns:p14="http://schemas.microsoft.com/office/powerpoint/2010/main" val="3085494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2. Approaches</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2.4 Controller selection</a:t>
            </a: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B829A88E-78B4-4B03-864D-1610EFAAB182}"/>
              </a:ext>
            </a:extLst>
          </p:cNvPr>
          <p:cNvSpPr txBox="1">
            <a:spLocks/>
          </p:cNvSpPr>
          <p:nvPr/>
        </p:nvSpPr>
        <p:spPr>
          <a:xfrm>
            <a:off x="1078639" y="4690482"/>
            <a:ext cx="10515598" cy="445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Choose MCU </a:t>
            </a:r>
            <a:endParaRPr lang="en-US" sz="2400" dirty="0"/>
          </a:p>
        </p:txBody>
      </p:sp>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5">
            <a:extLst>
              <a:ext uri="{FF2B5EF4-FFF2-40B4-BE49-F238E27FC236}">
                <a16:creationId xmlns:a16="http://schemas.microsoft.com/office/drawing/2014/main" id="{2BA3FFA5-36FC-46D5-BF5E-5B878F01C209}"/>
              </a:ext>
            </a:extLst>
          </p:cNvPr>
          <p:cNvGraphicFramePr>
            <a:graphicFrameLocks noGrp="1"/>
          </p:cNvGraphicFramePr>
          <p:nvPr>
            <p:extLst>
              <p:ext uri="{D42A27DB-BD31-4B8C-83A1-F6EECF244321}">
                <p14:modId xmlns:p14="http://schemas.microsoft.com/office/powerpoint/2010/main" val="1075964444"/>
              </p:ext>
            </p:extLst>
          </p:nvPr>
        </p:nvGraphicFramePr>
        <p:xfrm>
          <a:off x="838200" y="1817172"/>
          <a:ext cx="10756037" cy="2286000"/>
        </p:xfrm>
        <a:graphic>
          <a:graphicData uri="http://schemas.openxmlformats.org/drawingml/2006/table">
            <a:tbl>
              <a:tblPr firstRow="1" bandRow="1">
                <a:tableStyleId>{5C22544A-7EE6-4342-B048-85BDC9FD1C3A}</a:tableStyleId>
              </a:tblPr>
              <a:tblGrid>
                <a:gridCol w="2202841">
                  <a:extLst>
                    <a:ext uri="{9D8B030D-6E8A-4147-A177-3AD203B41FA5}">
                      <a16:colId xmlns:a16="http://schemas.microsoft.com/office/drawing/2014/main" val="2576529349"/>
                    </a:ext>
                  </a:extLst>
                </a:gridCol>
                <a:gridCol w="3670477">
                  <a:extLst>
                    <a:ext uri="{9D8B030D-6E8A-4147-A177-3AD203B41FA5}">
                      <a16:colId xmlns:a16="http://schemas.microsoft.com/office/drawing/2014/main" val="616237950"/>
                    </a:ext>
                  </a:extLst>
                </a:gridCol>
                <a:gridCol w="4882719">
                  <a:extLst>
                    <a:ext uri="{9D8B030D-6E8A-4147-A177-3AD203B41FA5}">
                      <a16:colId xmlns:a16="http://schemas.microsoft.com/office/drawing/2014/main" val="2976739688"/>
                    </a:ext>
                  </a:extLst>
                </a:gridCol>
              </a:tblGrid>
              <a:tr h="226737">
                <a:tc>
                  <a:txBody>
                    <a:bodyPr/>
                    <a:lstStyle/>
                    <a:p>
                      <a:pPr algn="ctr"/>
                      <a:endParaRPr lang="en-US" dirty="0"/>
                    </a:p>
                  </a:txBody>
                  <a:tcPr/>
                </a:tc>
                <a:tc>
                  <a:txBody>
                    <a:bodyPr/>
                    <a:lstStyle/>
                    <a:p>
                      <a:pPr algn="ctr"/>
                      <a:r>
                        <a:rPr lang="en-US" dirty="0"/>
                        <a:t>Pros</a:t>
                      </a:r>
                    </a:p>
                  </a:txBody>
                  <a:tcPr/>
                </a:tc>
                <a:tc>
                  <a:txBody>
                    <a:bodyPr/>
                    <a:lstStyle/>
                    <a:p>
                      <a:pPr algn="ctr"/>
                      <a:r>
                        <a:rPr lang="en-US" dirty="0"/>
                        <a:t>Cons</a:t>
                      </a:r>
                    </a:p>
                  </a:txBody>
                  <a:tcPr/>
                </a:tc>
                <a:extLst>
                  <a:ext uri="{0D108BD9-81ED-4DB2-BD59-A6C34878D82A}">
                    <a16:rowId xmlns:a16="http://schemas.microsoft.com/office/drawing/2014/main" val="388929811"/>
                  </a:ext>
                </a:extLst>
              </a:tr>
              <a:tr h="370840">
                <a:tc>
                  <a:txBody>
                    <a:bodyPr/>
                    <a:lstStyle/>
                    <a:p>
                      <a:r>
                        <a:rPr lang="en-US" dirty="0"/>
                        <a:t>Microcontroller unit</a:t>
                      </a:r>
                    </a:p>
                    <a:p>
                      <a:r>
                        <a:rPr lang="en-US" dirty="0"/>
                        <a:t>(MCU)</a:t>
                      </a:r>
                    </a:p>
                  </a:txBody>
                  <a:tcPr/>
                </a:tc>
                <a:tc>
                  <a:txBody>
                    <a:bodyPr/>
                    <a:lstStyle/>
                    <a:p>
                      <a:pPr marL="285750" indent="-285750">
                        <a:buFont typeface="Arial" panose="020B0604020202020204" pitchFamily="34" charset="0"/>
                        <a:buChar char="•"/>
                      </a:pPr>
                      <a:r>
                        <a:rPr lang="en-US" dirty="0"/>
                        <a:t>Lowest cost</a:t>
                      </a:r>
                    </a:p>
                    <a:p>
                      <a:pPr marL="285750" indent="-285750">
                        <a:buFont typeface="Arial" panose="020B0604020202020204" pitchFamily="34" charset="0"/>
                        <a:buChar char="•"/>
                      </a:pPr>
                      <a:r>
                        <a:rPr lang="en-US" dirty="0"/>
                        <a:t>Small and easily installed</a:t>
                      </a:r>
                    </a:p>
                  </a:txBody>
                  <a:tcPr/>
                </a:tc>
                <a:tc>
                  <a:txBody>
                    <a:bodyPr/>
                    <a:lstStyle/>
                    <a:p>
                      <a:pPr marL="285750" indent="-285750">
                        <a:buFont typeface="Arial" panose="020B0604020202020204" pitchFamily="34" charset="0"/>
                        <a:buChar char="•"/>
                      </a:pPr>
                      <a:r>
                        <a:rPr lang="en-US" dirty="0"/>
                        <a:t>Affected by noise in industrial environment</a:t>
                      </a:r>
                    </a:p>
                    <a:p>
                      <a:pPr marL="285750" indent="-285750">
                        <a:buFont typeface="Arial" panose="020B0604020202020204" pitchFamily="34" charset="0"/>
                        <a:buChar char="•"/>
                      </a:pPr>
                      <a:r>
                        <a:rPr lang="en-US" dirty="0"/>
                        <a:t>Cannot withstand harsh environment condition</a:t>
                      </a:r>
                    </a:p>
                  </a:txBody>
                  <a:tcPr/>
                </a:tc>
                <a:extLst>
                  <a:ext uri="{0D108BD9-81ED-4DB2-BD59-A6C34878D82A}">
                    <a16:rowId xmlns:a16="http://schemas.microsoft.com/office/drawing/2014/main" val="1990733384"/>
                  </a:ext>
                </a:extLst>
              </a:tr>
              <a:tr h="370840">
                <a:tc>
                  <a:txBody>
                    <a:bodyPr/>
                    <a:lstStyle/>
                    <a:p>
                      <a:r>
                        <a:rPr lang="en-US" dirty="0"/>
                        <a:t>Single-board computer (SBC)</a:t>
                      </a:r>
                    </a:p>
                  </a:txBody>
                  <a:tcPr/>
                </a:tc>
                <a:tc>
                  <a:txBody>
                    <a:bodyPr/>
                    <a:lstStyle/>
                    <a:p>
                      <a:pPr marL="285750" indent="-285750">
                        <a:buFont typeface="Arial" panose="020B0604020202020204" pitchFamily="34" charset="0"/>
                        <a:buChar char="•"/>
                      </a:pPr>
                      <a:r>
                        <a:rPr lang="en-US" dirty="0"/>
                        <a:t>High computing speed</a:t>
                      </a:r>
                    </a:p>
                    <a:p>
                      <a:pPr marL="285750" indent="-285750">
                        <a:buFont typeface="Arial" panose="020B0604020202020204" pitchFamily="34" charset="0"/>
                        <a:buChar char="•"/>
                      </a:pPr>
                      <a:r>
                        <a:rPr lang="en-US" dirty="0"/>
                        <a:t>Small and easily installed</a:t>
                      </a:r>
                    </a:p>
                  </a:txBody>
                  <a:tcPr/>
                </a:tc>
                <a:tc>
                  <a:txBody>
                    <a:bodyPr/>
                    <a:lstStyle/>
                    <a:p>
                      <a:pPr marL="285750" indent="-285750">
                        <a:buFont typeface="Arial" panose="020B0604020202020204" pitchFamily="34" charset="0"/>
                        <a:buChar char="•"/>
                      </a:pPr>
                      <a:r>
                        <a:rPr lang="en-US" dirty="0"/>
                        <a:t>Expensive compared to MCU</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Cannot withstand harsh environment condition</a:t>
                      </a:r>
                    </a:p>
                  </a:txBody>
                  <a:tcPr/>
                </a:tc>
                <a:extLst>
                  <a:ext uri="{0D108BD9-81ED-4DB2-BD59-A6C34878D82A}">
                    <a16:rowId xmlns:a16="http://schemas.microsoft.com/office/drawing/2014/main" val="3661992347"/>
                  </a:ext>
                </a:extLst>
              </a:tr>
              <a:tr h="370840">
                <a:tc>
                  <a:txBody>
                    <a:bodyPr/>
                    <a:lstStyle/>
                    <a:p>
                      <a:r>
                        <a:rPr lang="en-US" dirty="0"/>
                        <a:t>Programmable logic controller (PLC)</a:t>
                      </a:r>
                    </a:p>
                  </a:txBody>
                  <a:tcPr/>
                </a:tc>
                <a:tc>
                  <a:txBody>
                    <a:bodyPr/>
                    <a:lstStyle/>
                    <a:p>
                      <a:pPr marL="285750" indent="-285750">
                        <a:buFont typeface="Arial" panose="020B0604020202020204" pitchFamily="34" charset="0"/>
                        <a:buChar char="•"/>
                      </a:pPr>
                      <a:r>
                        <a:rPr lang="en-US" dirty="0"/>
                        <a:t>Withstand harsh environment</a:t>
                      </a:r>
                    </a:p>
                    <a:p>
                      <a:pPr marL="285750" indent="-285750">
                        <a:buFont typeface="Arial" panose="020B0604020202020204" pitchFamily="34" charset="0"/>
                        <a:buChar char="•"/>
                      </a:pPr>
                      <a:r>
                        <a:rPr lang="en-US" dirty="0"/>
                        <a:t>Hardly affected by industrial noise</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Expensive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Bigger size compared to MCU</a:t>
                      </a:r>
                    </a:p>
                  </a:txBody>
                  <a:tcPr/>
                </a:tc>
                <a:extLst>
                  <a:ext uri="{0D108BD9-81ED-4DB2-BD59-A6C34878D82A}">
                    <a16:rowId xmlns:a16="http://schemas.microsoft.com/office/drawing/2014/main" val="1470904116"/>
                  </a:ext>
                </a:extLst>
              </a:tr>
            </a:tbl>
          </a:graphicData>
        </a:graphic>
      </p:graphicFrame>
    </p:spTree>
    <p:extLst>
      <p:ext uri="{BB962C8B-B14F-4D97-AF65-F5344CB8AC3E}">
        <p14:creationId xmlns:p14="http://schemas.microsoft.com/office/powerpoint/2010/main" val="2185578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3. Mechanical design</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3.1 Given data</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B829A88E-78B4-4B03-864D-1610EFAAB182}"/>
                  </a:ext>
                </a:extLst>
              </p:cNvPr>
              <p:cNvSpPr txBox="1">
                <a:spLocks/>
              </p:cNvSpPr>
              <p:nvPr/>
            </p:nvSpPr>
            <p:spPr>
              <a:xfrm>
                <a:off x="838199" y="1687062"/>
                <a:ext cx="11084859" cy="43526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Conveyor speed: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𝑣</m:t>
                    </m:r>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𝑄𝐿</m:t>
                        </m:r>
                      </m:num>
                      <m:den>
                        <m:r>
                          <a:rPr lang="en-US" sz="2400" b="0" i="1" smtClean="0">
                            <a:latin typeface="Cambria Math" panose="02040503050406030204" pitchFamily="18" charset="0"/>
                            <a:cs typeface="Times New Roman" panose="02020603050405020304" pitchFamily="18" charset="0"/>
                          </a:rPr>
                          <m:t>3600</m:t>
                        </m:r>
                      </m:den>
                    </m:f>
                    <m:r>
                      <a:rPr lang="en-US" sz="2400" b="0" i="1" smtClean="0">
                        <a:latin typeface="Cambria Math" panose="02040503050406030204" pitchFamily="18" charset="0"/>
                        <a:cs typeface="Times New Roman" panose="02020603050405020304" pitchFamily="18" charset="0"/>
                      </a:rPr>
                      <m:t>=278</m:t>
                    </m:r>
                    <m:r>
                      <a:rPr lang="en-US" sz="2400" b="0" i="1" smtClean="0">
                        <a:latin typeface="Cambria Math" panose="02040503050406030204" pitchFamily="18" charset="0"/>
                        <a:cs typeface="Times New Roman" panose="02020603050405020304" pitchFamily="18" charset="0"/>
                      </a:rPr>
                      <m:t>𝑚𝑚</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𝑠</m:t>
                    </m:r>
                  </m:oMath>
                </a14:m>
                <a:endParaRPr lang="en-US"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The conveyor carries 5 3-kg box at once,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𝑚</m:t>
                        </m:r>
                      </m:e>
                      <m:sub>
                        <m:r>
                          <a:rPr lang="en-US" sz="2400" b="0" i="1" smtClean="0">
                            <a:latin typeface="Cambria Math" panose="02040503050406030204" pitchFamily="18" charset="0"/>
                            <a:cs typeface="Times New Roman" panose="02020603050405020304" pitchFamily="18" charset="0"/>
                          </a:rPr>
                          <m:t>𝑏𝑜𝑥</m:t>
                        </m:r>
                      </m:sub>
                    </m:sSub>
                    <m:r>
                      <a:rPr lang="en-US" sz="2400" b="0" i="1" smtClean="0">
                        <a:latin typeface="Cambria Math" panose="02040503050406030204" pitchFamily="18" charset="0"/>
                        <a:cs typeface="Times New Roman" panose="02020603050405020304" pitchFamily="18" charset="0"/>
                      </a:rPr>
                      <m:t>=3×5=15</m:t>
                    </m:r>
                    <m:r>
                      <a:rPr lang="en-US" sz="2400" b="0" i="1" smtClean="0">
                        <a:latin typeface="Cambria Math" panose="02040503050406030204" pitchFamily="18" charset="0"/>
                        <a:cs typeface="Times New Roman" panose="02020603050405020304" pitchFamily="18" charset="0"/>
                      </a:rPr>
                      <m:t>𝑘𝑔</m:t>
                    </m:r>
                  </m:oMath>
                </a14:m>
                <a:endParaRPr lang="en-US"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The friction between belt and sliding bed: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𝜇</m:t>
                    </m:r>
                    <m:r>
                      <a:rPr lang="en-US" sz="2400" b="0" i="1" smtClean="0">
                        <a:latin typeface="Cambria Math" panose="02040503050406030204" pitchFamily="18" charset="0"/>
                        <a:cs typeface="Times New Roman" panose="02020603050405020304" pitchFamily="18" charset="0"/>
                      </a:rPr>
                      <m:t>=0.1</m:t>
                    </m:r>
                  </m:oMath>
                </a14:m>
                <a:endParaRPr lang="en-US"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Pulley diameter: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𝐷</m:t>
                        </m:r>
                      </m:e>
                      <m:sub>
                        <m:r>
                          <a:rPr lang="en-US" sz="2400" b="0" i="1" smtClean="0">
                            <a:latin typeface="Cambria Math" panose="02040503050406030204" pitchFamily="18" charset="0"/>
                            <a:cs typeface="Times New Roman" panose="02020603050405020304" pitchFamily="18" charset="0"/>
                          </a:rPr>
                          <m:t>𝑝</m:t>
                        </m:r>
                      </m:sub>
                    </m:sSub>
                    <m:r>
                      <a:rPr lang="en-US" sz="2400" b="0" i="1" smtClean="0">
                        <a:latin typeface="Cambria Math" panose="02040503050406030204" pitchFamily="18" charset="0"/>
                        <a:cs typeface="Times New Roman" panose="02020603050405020304" pitchFamily="18" charset="0"/>
                      </a:rPr>
                      <m:t>=60</m:t>
                    </m:r>
                    <m:r>
                      <a:rPr lang="en-US" sz="2400" b="0" i="1" smtClean="0">
                        <a:latin typeface="Cambria Math" panose="02040503050406030204" pitchFamily="18" charset="0"/>
                        <a:cs typeface="Times New Roman" panose="02020603050405020304" pitchFamily="18" charset="0"/>
                      </a:rPr>
                      <m:t>𝑚𝑚</m:t>
                    </m:r>
                  </m:oMath>
                </a14:m>
                <a:r>
                  <a:rPr lang="en-US" sz="2400" b="0" dirty="0">
                    <a:latin typeface="Times New Roman" panose="02020603050405020304" pitchFamily="18" charset="0"/>
                    <a:cs typeface="Times New Roman" panose="02020603050405020304" pitchFamily="18" charset="0"/>
                  </a:rPr>
                  <a:t>, Pulley length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𝐿</m:t>
                        </m:r>
                      </m:e>
                      <m:sub>
                        <m:r>
                          <a:rPr lang="en-US" sz="2400" b="0" i="1" smtClean="0">
                            <a:latin typeface="Cambria Math" panose="02040503050406030204" pitchFamily="18" charset="0"/>
                            <a:cs typeface="Times New Roman" panose="02020603050405020304" pitchFamily="18" charset="0"/>
                          </a:rPr>
                          <m:t>𝑝</m:t>
                        </m:r>
                      </m:sub>
                    </m:sSub>
                    <m:r>
                      <a:rPr lang="en-US" sz="2400" b="0" i="1" smtClean="0">
                        <a:latin typeface="Cambria Math" panose="02040503050406030204" pitchFamily="18" charset="0"/>
                        <a:cs typeface="Times New Roman" panose="02020603050405020304" pitchFamily="18" charset="0"/>
                      </a:rPr>
                      <m:t>=230</m:t>
                    </m:r>
                    <m:r>
                      <a:rPr lang="en-US" sz="2400" b="0" i="1" smtClean="0">
                        <a:latin typeface="Cambria Math" panose="02040503050406030204" pitchFamily="18" charset="0"/>
                        <a:cs typeface="Times New Roman" panose="02020603050405020304" pitchFamily="18" charset="0"/>
                      </a:rPr>
                      <m:t>𝑚𝑚</m:t>
                    </m:r>
                  </m:oMath>
                </a14:m>
                <a:endParaRPr lang="en-US" sz="2400" b="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Mass density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𝜌</m:t>
                    </m:r>
                    <m:r>
                      <a:rPr lang="en-US" sz="2400" b="0" i="1" smtClean="0">
                        <a:latin typeface="Cambria Math" panose="02040503050406030204" pitchFamily="18" charset="0"/>
                        <a:cs typeface="Times New Roman" panose="02020603050405020304" pitchFamily="18" charset="0"/>
                      </a:rPr>
                      <m:t>=7900</m:t>
                    </m:r>
                    <m:r>
                      <a:rPr lang="en-US" sz="2400" b="0" i="1" smtClean="0">
                        <a:latin typeface="Cambria Math" panose="02040503050406030204" pitchFamily="18" charset="0"/>
                        <a:cs typeface="Times New Roman" panose="02020603050405020304" pitchFamily="18" charset="0"/>
                      </a:rPr>
                      <m:t>𝑘𝑔</m:t>
                    </m:r>
                    <m:r>
                      <a:rPr lang="en-US" sz="2400" b="0" i="1" smtClean="0">
                        <a:latin typeface="Cambria Math" panose="02040503050406030204" pitchFamily="18" charset="0"/>
                        <a:cs typeface="Times New Roman" panose="02020603050405020304" pitchFamily="18" charset="0"/>
                      </a:rPr>
                      <m:t>/</m:t>
                    </m:r>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𝑚</m:t>
                        </m:r>
                      </m:e>
                      <m:sup>
                        <m:r>
                          <a:rPr lang="en-US" sz="2400" b="0" i="1" smtClean="0">
                            <a:latin typeface="Cambria Math" panose="02040503050406030204" pitchFamily="18" charset="0"/>
                            <a:cs typeface="Times New Roman" panose="02020603050405020304" pitchFamily="18" charset="0"/>
                          </a:rPr>
                          <m:t>3</m:t>
                        </m:r>
                      </m:sup>
                    </m:sSup>
                  </m:oMath>
                </a14:m>
                <a:endParaRPr lang="en-US" sz="2400" b="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Belt conveyor efficiency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𝜂</m:t>
                    </m:r>
                    <m:r>
                      <a:rPr lang="en-US" sz="2400" b="0" i="1" smtClean="0">
                        <a:latin typeface="Cambria Math" panose="02040503050406030204" pitchFamily="18" charset="0"/>
                        <a:cs typeface="Times New Roman" panose="02020603050405020304" pitchFamily="18" charset="0"/>
                      </a:rPr>
                      <m:t>=0.92</m:t>
                    </m:r>
                  </m:oMath>
                </a14:m>
                <a:endParaRPr lang="en-US" sz="2400" b="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Acceleration time: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𝑡</m:t>
                        </m:r>
                      </m:e>
                      <m:sub>
                        <m:r>
                          <a:rPr lang="en-US" sz="2400" b="0" i="1" smtClean="0">
                            <a:latin typeface="Cambria Math" panose="02040503050406030204" pitchFamily="18" charset="0"/>
                            <a:cs typeface="Times New Roman" panose="02020603050405020304" pitchFamily="18" charset="0"/>
                          </a:rPr>
                          <m:t>𝑎𝑐</m:t>
                        </m:r>
                      </m:sub>
                    </m:sSub>
                    <m:r>
                      <a:rPr lang="en-US" sz="2400" b="0" i="1" smtClean="0">
                        <a:latin typeface="Cambria Math" panose="02040503050406030204" pitchFamily="18" charset="0"/>
                        <a:cs typeface="Times New Roman" panose="02020603050405020304" pitchFamily="18" charset="0"/>
                      </a:rPr>
                      <m:t>=0.1</m:t>
                    </m:r>
                    <m:r>
                      <a:rPr lang="en-US" sz="2400" b="0" i="1" smtClean="0">
                        <a:latin typeface="Cambria Math" panose="02040503050406030204" pitchFamily="18" charset="0"/>
                        <a:cs typeface="Times New Roman" panose="02020603050405020304" pitchFamily="18" charset="0"/>
                      </a:rPr>
                      <m:t>𝑠</m:t>
                    </m:r>
                  </m:oMath>
                </a14:m>
                <a:endParaRPr lang="en-US" sz="2400" b="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Safety factor: SF =1.3</a:t>
                </a: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Chain transmission ratio: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𝑛</m:t>
                        </m:r>
                      </m:e>
                      <m:sub>
                        <m:r>
                          <a:rPr lang="en-US" sz="2400" b="0" i="1" smtClean="0">
                            <a:latin typeface="Cambria Math" panose="02040503050406030204" pitchFamily="18" charset="0"/>
                            <a:cs typeface="Times New Roman" panose="02020603050405020304" pitchFamily="18" charset="0"/>
                          </a:rPr>
                          <m:t>𝑐h𝑎𝑖𝑛</m:t>
                        </m:r>
                      </m:sub>
                    </m:sSub>
                    <m:r>
                      <a:rPr lang="en-US" sz="2400" b="0" i="1" smtClean="0">
                        <a:latin typeface="Cambria Math" panose="02040503050406030204" pitchFamily="18" charset="0"/>
                        <a:cs typeface="Times New Roman" panose="02020603050405020304" pitchFamily="18" charset="0"/>
                      </a:rPr>
                      <m:t>=1</m:t>
                    </m:r>
                  </m:oMath>
                </a14:m>
                <a:endParaRPr lang="en-US" sz="2400" dirty="0">
                  <a:latin typeface="Times New Roman" panose="02020603050405020304" pitchFamily="18" charset="0"/>
                  <a:cs typeface="Times New Roman" panose="02020603050405020304" pitchFamily="18" charset="0"/>
                </a:endParaRPr>
              </a:p>
            </p:txBody>
          </p:sp>
        </mc:Choice>
        <mc:Fallback xmlns="">
          <p:sp>
            <p:nvSpPr>
              <p:cNvPr id="8" name="Content Placeholder 2">
                <a:extLst>
                  <a:ext uri="{FF2B5EF4-FFF2-40B4-BE49-F238E27FC236}">
                    <a16:creationId xmlns:a16="http://schemas.microsoft.com/office/drawing/2014/main" id="{B829A88E-78B4-4B03-864D-1610EFAAB182}"/>
                  </a:ext>
                </a:extLst>
              </p:cNvPr>
              <p:cNvSpPr txBox="1">
                <a:spLocks noRot="1" noChangeAspect="1" noMove="1" noResize="1" noEditPoints="1" noAdjustHandles="1" noChangeArrowheads="1" noChangeShapeType="1" noTextEdit="1"/>
              </p:cNvSpPr>
              <p:nvPr/>
            </p:nvSpPr>
            <p:spPr>
              <a:xfrm>
                <a:off x="838199" y="1687062"/>
                <a:ext cx="11084859" cy="4352607"/>
              </a:xfrm>
              <a:prstGeom prst="rect">
                <a:avLst/>
              </a:prstGeom>
              <a:blipFill>
                <a:blip r:embed="rId2"/>
                <a:stretch>
                  <a:fillRect l="-825" t="-280" b="-560"/>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370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3. Mechanical design</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3.1 Given data</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B829A88E-78B4-4B03-864D-1610EFAAB182}"/>
              </a:ext>
            </a:extLst>
          </p:cNvPr>
          <p:cNvSpPr txBox="1">
            <a:spLocks/>
          </p:cNvSpPr>
          <p:nvPr/>
        </p:nvSpPr>
        <p:spPr>
          <a:xfrm>
            <a:off x="838199" y="1687063"/>
            <a:ext cx="11084859" cy="22596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400" dirty="0"/>
          </a:p>
        </p:txBody>
      </p:sp>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2">
            <a:extLst>
              <a:ext uri="{FF2B5EF4-FFF2-40B4-BE49-F238E27FC236}">
                <a16:creationId xmlns:a16="http://schemas.microsoft.com/office/drawing/2014/main" id="{8B1D477A-A8A8-44F6-9EA2-7B207BFCB736}"/>
              </a:ext>
            </a:extLst>
          </p:cNvPr>
          <p:cNvSpPr>
            <a:spLocks noChangeArrowheads="1"/>
          </p:cNvSpPr>
          <p:nvPr/>
        </p:nvSpPr>
        <p:spPr bwMode="auto">
          <a:xfrm>
            <a:off x="3585882" y="205343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29">
            <a:extLst>
              <a:ext uri="{FF2B5EF4-FFF2-40B4-BE49-F238E27FC236}">
                <a16:creationId xmlns:a16="http://schemas.microsoft.com/office/drawing/2014/main" id="{1D16AABC-9D1C-4F30-9DDF-57DB446B17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5449" y="1655784"/>
            <a:ext cx="5401101" cy="315291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D3CDA813-B58A-4782-A0E3-4818F72EE991}"/>
              </a:ext>
            </a:extLst>
          </p:cNvPr>
          <p:cNvSpPr>
            <a:spLocks noChangeArrowheads="1"/>
          </p:cNvSpPr>
          <p:nvPr/>
        </p:nvSpPr>
        <p:spPr bwMode="auto">
          <a:xfrm>
            <a:off x="4416206" y="4775368"/>
            <a:ext cx="39288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bmk="_Toc120006654">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Diagram of belt conveyor system</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B0B93DD-513E-4B30-A294-49CD99965E6F}"/>
              </a:ext>
            </a:extLst>
          </p:cNvPr>
          <p:cNvSpPr txBox="1"/>
          <p:nvPr/>
        </p:nvSpPr>
        <p:spPr>
          <a:xfrm>
            <a:off x="2401455" y="5283199"/>
            <a:ext cx="7758545"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Note: 1 – Chain drive, 2 – Gearbox and motor, 3 – Belt conveyor</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5932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3. Mechanical design</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3.1 Conveyor motor selection</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B829A88E-78B4-4B03-864D-1610EFAAB182}"/>
                  </a:ext>
                </a:extLst>
              </p:cNvPr>
              <p:cNvSpPr txBox="1">
                <a:spLocks/>
              </p:cNvSpPr>
              <p:nvPr/>
            </p:nvSpPr>
            <p:spPr>
              <a:xfrm>
                <a:off x="838199" y="1687062"/>
                <a:ext cx="11084859" cy="43526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Motor required speed: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𝑛</m:t>
                        </m:r>
                      </m:e>
                      <m:sub>
                        <m:r>
                          <a:rPr lang="en-US" sz="2400" b="0" i="1" smtClean="0">
                            <a:latin typeface="Cambria Math" panose="02040503050406030204" pitchFamily="18" charset="0"/>
                            <a:cs typeface="Times New Roman" panose="02020603050405020304" pitchFamily="18" charset="0"/>
                          </a:rPr>
                          <m:t>𝑚𝑜𝑡𝑜𝑟</m:t>
                        </m:r>
                      </m:sub>
                    </m:sSub>
                    <m:r>
                      <a:rPr lang="en-US" sz="2400" b="0" i="1" smtClean="0">
                        <a:latin typeface="Cambria Math" panose="02040503050406030204" pitchFamily="18" charset="0"/>
                        <a:cs typeface="Times New Roman" panose="02020603050405020304" pitchFamily="18" charset="0"/>
                      </a:rPr>
                      <m:t>=88</m:t>
                    </m:r>
                    <m:r>
                      <a:rPr lang="en-US" sz="2400" b="0" i="1" smtClean="0">
                        <a:latin typeface="Cambria Math" panose="02040503050406030204" pitchFamily="18" charset="0"/>
                        <a:cs typeface="Times New Roman" panose="02020603050405020304" pitchFamily="18" charset="0"/>
                      </a:rPr>
                      <m:t>𝑟𝑝𝑚</m:t>
                    </m:r>
                  </m:oMath>
                </a14:m>
                <a:endParaRPr lang="en-US" sz="2400" b="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Acceleration torque: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𝑇</m:t>
                        </m:r>
                      </m:e>
                      <m:sub>
                        <m:r>
                          <a:rPr lang="en-US" sz="2400" b="0" i="1" smtClean="0">
                            <a:latin typeface="Cambria Math" panose="02040503050406030204" pitchFamily="18" charset="0"/>
                            <a:cs typeface="Times New Roman" panose="02020603050405020304" pitchFamily="18" charset="0"/>
                          </a:rPr>
                          <m:t>𝑎𝑐</m:t>
                        </m:r>
                      </m:sub>
                    </m:sSub>
                    <m:r>
                      <a:rPr lang="en-US" sz="2400" b="0" i="1" smtClean="0">
                        <a:latin typeface="Cambria Math" panose="02040503050406030204" pitchFamily="18" charset="0"/>
                        <a:cs typeface="Times New Roman" panose="02020603050405020304" pitchFamily="18" charset="0"/>
                      </a:rPr>
                      <m:t>=1.66</m:t>
                    </m:r>
                    <m:r>
                      <a:rPr lang="en-US" sz="2400" b="0" i="1" smtClean="0">
                        <a:latin typeface="Cambria Math" panose="02040503050406030204" pitchFamily="18" charset="0"/>
                        <a:cs typeface="Times New Roman" panose="02020603050405020304" pitchFamily="18" charset="0"/>
                      </a:rPr>
                      <m:t>𝑁𝑚</m:t>
                    </m:r>
                  </m:oMath>
                </a14:m>
                <a:endParaRPr lang="en-US" sz="2400" b="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Load torque:</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𝑇</m:t>
                        </m:r>
                      </m:e>
                      <m:sub>
                        <m:r>
                          <a:rPr lang="en-US" sz="2400" b="0" i="1" smtClean="0">
                            <a:latin typeface="Cambria Math" panose="02040503050406030204" pitchFamily="18" charset="0"/>
                            <a:cs typeface="Times New Roman" panose="02020603050405020304" pitchFamily="18" charset="0"/>
                          </a:rPr>
                          <m:t>𝐿</m:t>
                        </m:r>
                      </m:sub>
                    </m:sSub>
                    <m:r>
                      <a:rPr lang="en-US" sz="2400" b="0" i="1" smtClean="0">
                        <a:latin typeface="Cambria Math" panose="02040503050406030204" pitchFamily="18" charset="0"/>
                        <a:cs typeface="Times New Roman" panose="02020603050405020304" pitchFamily="18" charset="0"/>
                      </a:rPr>
                      <m:t>=0.48</m:t>
                    </m:r>
                    <m:r>
                      <a:rPr lang="en-US" sz="2400" b="0" i="1" smtClean="0">
                        <a:latin typeface="Cambria Math" panose="02040503050406030204" pitchFamily="18" charset="0"/>
                        <a:cs typeface="Times New Roman" panose="02020603050405020304" pitchFamily="18" charset="0"/>
                      </a:rPr>
                      <m:t>𝑁𝑚</m:t>
                    </m:r>
                  </m:oMath>
                </a14:m>
                <a:endParaRPr lang="en-US"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Motor required torque: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𝑇</m:t>
                        </m:r>
                      </m:e>
                      <m:sub>
                        <m:r>
                          <a:rPr lang="en-US" sz="2400" b="0" i="1" smtClean="0">
                            <a:latin typeface="Cambria Math" panose="02040503050406030204" pitchFamily="18" charset="0"/>
                            <a:cs typeface="Times New Roman" panose="02020603050405020304" pitchFamily="18" charset="0"/>
                          </a:rPr>
                          <m:t>𝑚𝑜𝑡𝑜𝑟</m:t>
                        </m:r>
                      </m:sub>
                    </m:sSub>
                    <m:r>
                      <a:rPr lang="en-US" sz="2400" b="0" i="1" smtClean="0">
                        <a:latin typeface="Cambria Math" panose="02040503050406030204" pitchFamily="18" charset="0"/>
                        <a:cs typeface="Times New Roman" panose="02020603050405020304" pitchFamily="18" charset="0"/>
                      </a:rPr>
                      <m:t>=</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𝑇</m:t>
                            </m:r>
                          </m:e>
                          <m:sub>
                            <m:r>
                              <a:rPr lang="en-US" sz="2400" b="0" i="1" smtClean="0">
                                <a:latin typeface="Cambria Math" panose="02040503050406030204" pitchFamily="18" charset="0"/>
                                <a:cs typeface="Times New Roman" panose="02020603050405020304" pitchFamily="18" charset="0"/>
                              </a:rPr>
                              <m:t>𝑎𝑐</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𝑇</m:t>
                            </m:r>
                          </m:e>
                          <m:sub>
                            <m:r>
                              <a:rPr lang="en-US" sz="2400" b="0" i="1" smtClean="0">
                                <a:latin typeface="Cambria Math" panose="02040503050406030204" pitchFamily="18" charset="0"/>
                                <a:cs typeface="Times New Roman" panose="02020603050405020304" pitchFamily="18" charset="0"/>
                              </a:rPr>
                              <m:t>𝐿</m:t>
                            </m:r>
                          </m:sub>
                        </m:sSub>
                      </m:e>
                    </m:d>
                    <m:r>
                      <a:rPr lang="en-US" sz="2400" b="0" i="1" smtClean="0">
                        <a:latin typeface="Cambria Math" panose="02040503050406030204" pitchFamily="18" charset="0"/>
                        <a:cs typeface="Times New Roman" panose="02020603050405020304" pitchFamily="18" charset="0"/>
                      </a:rPr>
                      <m:t>𝑆𝐹</m:t>
                    </m:r>
                    <m:r>
                      <a:rPr lang="en-US" sz="2400" b="0" i="1" smtClean="0">
                        <a:latin typeface="Cambria Math" panose="02040503050406030204" pitchFamily="18" charset="0"/>
                        <a:cs typeface="Times New Roman" panose="02020603050405020304" pitchFamily="18" charset="0"/>
                      </a:rPr>
                      <m:t>=1.5</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1.66+0.48</m:t>
                        </m:r>
                      </m:e>
                    </m:d>
                    <m:r>
                      <a:rPr lang="en-US" sz="2400" b="0" i="1" smtClean="0">
                        <a:latin typeface="Cambria Math" panose="02040503050406030204" pitchFamily="18" charset="0"/>
                        <a:cs typeface="Times New Roman" panose="02020603050405020304" pitchFamily="18" charset="0"/>
                      </a:rPr>
                      <m:t>=3.21</m:t>
                    </m:r>
                    <m:r>
                      <a:rPr lang="en-US" sz="2400" b="0" i="1" smtClean="0">
                        <a:latin typeface="Cambria Math" panose="02040503050406030204" pitchFamily="18" charset="0"/>
                        <a:cs typeface="Times New Roman" panose="02020603050405020304" pitchFamily="18" charset="0"/>
                      </a:rPr>
                      <m:t>𝑁𝑚</m:t>
                    </m:r>
                  </m:oMath>
                </a14:m>
                <a:endParaRPr lang="en-US" sz="2400" b="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Motor power: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𝑃</m:t>
                        </m:r>
                      </m:e>
                      <m:sub>
                        <m:r>
                          <a:rPr lang="en-US" sz="2400" b="0" i="1" smtClean="0">
                            <a:latin typeface="Cambria Math" panose="02040503050406030204" pitchFamily="18" charset="0"/>
                            <a:cs typeface="Times New Roman" panose="02020603050405020304" pitchFamily="18" charset="0"/>
                          </a:rPr>
                          <m:t>𝑚𝑜𝑡𝑜𝑟</m:t>
                        </m:r>
                      </m:sub>
                    </m:sSub>
                    <m:r>
                      <a:rPr lang="en-US" sz="2400" b="0" i="1" smtClean="0">
                        <a:latin typeface="Cambria Math" panose="02040503050406030204" pitchFamily="18" charset="0"/>
                        <a:cs typeface="Times New Roman" panose="02020603050405020304" pitchFamily="18" charset="0"/>
                      </a:rPr>
                      <m:t>≈30</m:t>
                    </m:r>
                    <m:r>
                      <a:rPr lang="en-US" sz="2400" b="0" i="1" smtClean="0">
                        <a:latin typeface="Cambria Math" panose="02040503050406030204" pitchFamily="18" charset="0"/>
                        <a:cs typeface="Times New Roman" panose="02020603050405020304" pitchFamily="18" charset="0"/>
                      </a:rPr>
                      <m:t>𝑊</m:t>
                    </m:r>
                  </m:oMath>
                </a14:m>
                <a:endParaRPr lang="en-US"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From the calculated result, choose motor 9SDGE-40G and gearbox 9GBK15BMH  of DKM manufacturer, which has the following specifications:</a:t>
                </a: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Power: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𝑃</m:t>
                        </m:r>
                      </m:e>
                      <m:sub>
                        <m:r>
                          <a:rPr lang="en-US" sz="2400" b="0" i="1" smtClean="0">
                            <a:latin typeface="Cambria Math" panose="02040503050406030204" pitchFamily="18" charset="0"/>
                            <a:cs typeface="Times New Roman" panose="02020603050405020304" pitchFamily="18" charset="0"/>
                          </a:rPr>
                          <m:t>𝑚𝑜𝑡𝑜𝑟</m:t>
                        </m:r>
                      </m:sub>
                    </m:sSub>
                    <m:r>
                      <a:rPr lang="en-US" sz="2400" b="0" i="1" smtClean="0">
                        <a:latin typeface="Cambria Math" panose="02040503050406030204" pitchFamily="18" charset="0"/>
                        <a:cs typeface="Times New Roman" panose="02020603050405020304" pitchFamily="18" charset="0"/>
                      </a:rPr>
                      <m:t>=40</m:t>
                    </m:r>
                    <m:r>
                      <a:rPr lang="en-US" sz="2400" b="0" i="1" smtClean="0">
                        <a:latin typeface="Cambria Math" panose="02040503050406030204" pitchFamily="18" charset="0"/>
                        <a:cs typeface="Times New Roman" panose="02020603050405020304" pitchFamily="18" charset="0"/>
                      </a:rPr>
                      <m:t>𝑊</m:t>
                    </m:r>
                  </m:oMath>
                </a14:m>
                <a:endParaRPr lang="en-US" sz="2400" b="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Speed: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𝑛</m:t>
                        </m:r>
                      </m:e>
                      <m:sub>
                        <m:r>
                          <a:rPr lang="en-US" sz="2400" b="0" i="1" smtClean="0">
                            <a:latin typeface="Cambria Math" panose="02040503050406030204" pitchFamily="18" charset="0"/>
                            <a:cs typeface="Times New Roman" panose="02020603050405020304" pitchFamily="18" charset="0"/>
                          </a:rPr>
                          <m:t>𝑚𝑜𝑡𝑜𝑟</m:t>
                        </m:r>
                      </m:sub>
                    </m:sSub>
                    <m:r>
                      <a:rPr lang="en-US" sz="2400" b="0" i="1" smtClean="0">
                        <a:latin typeface="Cambria Math" panose="02040503050406030204" pitchFamily="18" charset="0"/>
                        <a:cs typeface="Times New Roman" panose="02020603050405020304" pitchFamily="18" charset="0"/>
                      </a:rPr>
                      <m:t>=80</m:t>
                    </m:r>
                    <m:r>
                      <a:rPr lang="en-US" sz="2400" b="0" i="1" smtClean="0">
                        <a:latin typeface="Cambria Math" panose="02040503050406030204" pitchFamily="18" charset="0"/>
                        <a:cs typeface="Times New Roman" panose="02020603050405020304" pitchFamily="18" charset="0"/>
                      </a:rPr>
                      <m:t>𝑟𝑝𝑚</m:t>
                    </m:r>
                  </m:oMath>
                </a14:m>
                <a:endParaRPr lang="en-US" sz="2400" dirty="0">
                  <a:latin typeface="Times New Roman" panose="02020603050405020304" pitchFamily="18" charset="0"/>
                  <a:cs typeface="Times New Roman" panose="02020603050405020304" pitchFamily="18" charset="0"/>
                </a:endParaRPr>
              </a:p>
            </p:txBody>
          </p:sp>
        </mc:Choice>
        <mc:Fallback xmlns="">
          <p:sp>
            <p:nvSpPr>
              <p:cNvPr id="8" name="Content Placeholder 2">
                <a:extLst>
                  <a:ext uri="{FF2B5EF4-FFF2-40B4-BE49-F238E27FC236}">
                    <a16:creationId xmlns:a16="http://schemas.microsoft.com/office/drawing/2014/main" id="{B829A88E-78B4-4B03-864D-1610EFAAB182}"/>
                  </a:ext>
                </a:extLst>
              </p:cNvPr>
              <p:cNvSpPr txBox="1">
                <a:spLocks noRot="1" noChangeAspect="1" noMove="1" noResize="1" noEditPoints="1" noAdjustHandles="1" noChangeArrowheads="1" noChangeShapeType="1" noTextEdit="1"/>
              </p:cNvSpPr>
              <p:nvPr/>
            </p:nvSpPr>
            <p:spPr>
              <a:xfrm>
                <a:off x="838199" y="1687062"/>
                <a:ext cx="11084859" cy="4352607"/>
              </a:xfrm>
              <a:prstGeom prst="rect">
                <a:avLst/>
              </a:prstGeom>
              <a:blipFill>
                <a:blip r:embed="rId2"/>
                <a:stretch>
                  <a:fillRect l="-825" t="-1961"/>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66517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3. Mechanical design</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3.2 Chain drive calculation</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B829A88E-78B4-4B03-864D-1610EFAAB182}"/>
                  </a:ext>
                </a:extLst>
              </p:cNvPr>
              <p:cNvSpPr txBox="1">
                <a:spLocks/>
              </p:cNvSpPr>
              <p:nvPr/>
            </p:nvSpPr>
            <p:spPr>
              <a:xfrm>
                <a:off x="838199" y="1687062"/>
                <a:ext cx="11084859" cy="43526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The transmission ratio: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𝑢</m:t>
                        </m:r>
                      </m:e>
                      <m:sub>
                        <m:r>
                          <a:rPr lang="en-US" sz="2400" b="0" i="1" smtClean="0">
                            <a:latin typeface="Cambria Math" panose="02040503050406030204" pitchFamily="18" charset="0"/>
                            <a:cs typeface="Times New Roman" panose="02020603050405020304" pitchFamily="18" charset="0"/>
                          </a:rPr>
                          <m:t>𝑐h𝑎𝑖𝑛</m:t>
                        </m:r>
                      </m:sub>
                    </m:sSub>
                    <m:r>
                      <a:rPr lang="en-US" sz="2400" b="0" i="1" smtClean="0">
                        <a:latin typeface="Cambria Math" panose="02040503050406030204" pitchFamily="18" charset="0"/>
                        <a:cs typeface="Times New Roman" panose="02020603050405020304" pitchFamily="18" charset="0"/>
                      </a:rPr>
                      <m:t>=1</m:t>
                    </m:r>
                  </m:oMath>
                </a14:m>
                <a:r>
                  <a:rPr lang="en-US" sz="2400" dirty="0">
                    <a:latin typeface="Times New Roman" panose="02020603050405020304" pitchFamily="18" charset="0"/>
                    <a:cs typeface="Times New Roman" panose="02020603050405020304" pitchFamily="18" charset="0"/>
                  </a:rPr>
                  <a:t>, chain pitch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𝑝</m:t>
                        </m:r>
                      </m:e>
                      <m:sub>
                        <m:r>
                          <a:rPr lang="en-US" sz="2400" b="0" i="1" smtClean="0">
                            <a:latin typeface="Cambria Math" panose="02040503050406030204" pitchFamily="18" charset="0"/>
                            <a:cs typeface="Times New Roman" panose="02020603050405020304" pitchFamily="18" charset="0"/>
                          </a:rPr>
                          <m:t>𝑐</m:t>
                        </m:r>
                      </m:sub>
                    </m:sSub>
                    <m:r>
                      <a:rPr lang="en-US" sz="2400" b="0" i="1" smtClean="0">
                        <a:latin typeface="Cambria Math" panose="02040503050406030204" pitchFamily="18" charset="0"/>
                        <a:cs typeface="Times New Roman" panose="02020603050405020304" pitchFamily="18" charset="0"/>
                      </a:rPr>
                      <m:t>=9.525</m:t>
                    </m:r>
                    <m:r>
                      <a:rPr lang="en-US" sz="2400" b="0" i="1" smtClean="0">
                        <a:latin typeface="Cambria Math" panose="02040503050406030204" pitchFamily="18" charset="0"/>
                        <a:cs typeface="Times New Roman" panose="02020603050405020304" pitchFamily="18" charset="0"/>
                      </a:rPr>
                      <m:t>𝑚𝑚</m:t>
                    </m:r>
                  </m:oMath>
                </a14:m>
                <a:endParaRPr lang="en-US"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Choose number of teeth on driving sprocket and driven sprocket: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𝑧</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𝑧</m:t>
                        </m:r>
                      </m:e>
                      <m:sub>
                        <m:r>
                          <a:rPr lang="en-US" sz="2400" b="0" i="1" smtClean="0">
                            <a:latin typeface="Cambria Math" panose="02040503050406030204" pitchFamily="18" charset="0"/>
                            <a:cs typeface="Times New Roman" panose="02020603050405020304" pitchFamily="18" charset="0"/>
                          </a:rPr>
                          <m:t>2</m:t>
                        </m:r>
                      </m:sub>
                    </m:sSub>
                    <m:r>
                      <a:rPr lang="en-US" sz="2400" b="0" i="1" smtClean="0">
                        <a:latin typeface="Cambria Math" panose="02040503050406030204" pitchFamily="18" charset="0"/>
                        <a:cs typeface="Times New Roman" panose="02020603050405020304" pitchFamily="18" charset="0"/>
                      </a:rPr>
                      <m:t>=10 </m:t>
                    </m:r>
                    <m:r>
                      <a:rPr lang="en-US" sz="2400" b="0" i="1" smtClean="0">
                        <a:latin typeface="Cambria Math" panose="02040503050406030204" pitchFamily="18" charset="0"/>
                        <a:cs typeface="Times New Roman" panose="02020603050405020304" pitchFamily="18" charset="0"/>
                      </a:rPr>
                      <m:t>𝑡𝑒𝑒𝑡h</m:t>
                    </m:r>
                  </m:oMath>
                </a14:m>
                <a:endParaRPr lang="en-US"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Shaft distance: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𝑎</m:t>
                        </m:r>
                      </m:e>
                      <m:sub>
                        <m:r>
                          <a:rPr lang="en-US" sz="2400" b="0" i="1" smtClean="0">
                            <a:latin typeface="Cambria Math" panose="02040503050406030204" pitchFamily="18" charset="0"/>
                            <a:cs typeface="Times New Roman" panose="02020603050405020304" pitchFamily="18" charset="0"/>
                          </a:rPr>
                          <m:t>𝑐</m:t>
                        </m:r>
                      </m:sub>
                    </m:sSub>
                    <m:r>
                      <a:rPr lang="en-US" sz="2400" b="0" i="1" smtClean="0">
                        <a:latin typeface="Cambria Math" panose="02040503050406030204" pitchFamily="18" charset="0"/>
                        <a:cs typeface="Times New Roman" panose="02020603050405020304" pitchFamily="18" charset="0"/>
                      </a:rPr>
                      <m:t>=152.4</m:t>
                    </m:r>
                    <m:r>
                      <a:rPr lang="en-US" sz="2400" b="0" i="1" smtClean="0">
                        <a:latin typeface="Cambria Math" panose="02040503050406030204" pitchFamily="18" charset="0"/>
                        <a:cs typeface="Times New Roman" panose="02020603050405020304" pitchFamily="18" charset="0"/>
                      </a:rPr>
                      <m:t>𝑚𝑚</m:t>
                    </m:r>
                  </m:oMath>
                </a14:m>
                <a:endParaRPr lang="en-US"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Number of chain links:</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240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𝑐</m:t>
                          </m:r>
                        </m:sub>
                      </m:s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𝑎</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𝑐</m:t>
                              </m:r>
                            </m:sub>
                          </m:sSub>
                        </m:num>
                        <m:den>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𝑝</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𝑐</m:t>
                              </m:r>
                            </m:sub>
                          </m:sSub>
                        </m:den>
                      </m:f>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+0.5</m:t>
                      </m:r>
                      <m:d>
                        <m:d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𝑧</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𝑧</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sub>
                          </m:sSub>
                        </m:e>
                      </m:d>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𝑧</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𝑧</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sub>
                                  </m:sSub>
                                </m:e>
                              </m:d>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𝑝</m:t>
                          </m:r>
                        </m:num>
                        <m:den>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4</m:t>
                          </m:r>
                          <m:sSup>
                            <m:sSup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𝜋</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sup>
                          </m:sSup>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𝑎</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𝑐</m:t>
                              </m:r>
                            </m:sub>
                          </m:sSub>
                        </m:den>
                      </m:f>
                    </m:oMath>
                  </m:oMathPara>
                </a14:m>
                <a:endParaRPr lang="en-US" sz="2400" dirty="0">
                  <a:latin typeface="Times New Roman" panose="02020603050405020304" pitchFamily="18" charset="0"/>
                  <a:cs typeface="Times New Roman" panose="02020603050405020304" pitchFamily="18" charset="0"/>
                </a:endParaRPr>
              </a:p>
              <a:p>
                <a:pPr marL="0" indent="0">
                  <a:buNone/>
                </a:pPr>
                <a:endParaRPr lang="en-US" sz="1800" i="1" dirty="0">
                  <a:effectLst/>
                  <a:latin typeface="Cambria Math" panose="02040503050406030204" pitchFamily="18" charset="0"/>
                  <a:ea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240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𝑐</m:t>
                          </m:r>
                        </m:sub>
                      </m:s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2×152.4</m:t>
                          </m:r>
                        </m:num>
                        <m:den>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9.525</m:t>
                          </m:r>
                        </m:den>
                      </m:f>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+0.5</m:t>
                      </m:r>
                      <m:d>
                        <m:d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10+10</m:t>
                          </m:r>
                        </m:e>
                      </m:d>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10−10</m:t>
                                  </m:r>
                                </m:e>
                              </m:d>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×9.525</m:t>
                          </m:r>
                        </m:num>
                        <m:den>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4</m:t>
                          </m:r>
                          <m:sSup>
                            <m:sSup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𝜋</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×152.4</m:t>
                          </m:r>
                        </m:den>
                      </m:f>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=42</m:t>
                      </m:r>
                      <m:r>
                        <a:rPr lang="en-US" sz="2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400" b="0" i="1" smtClean="0">
                          <a:effectLst/>
                          <a:latin typeface="Cambria Math" panose="02040503050406030204" pitchFamily="18" charset="0"/>
                          <a:ea typeface="Times New Roman" panose="02020603050405020304" pitchFamily="18" charset="0"/>
                          <a:cs typeface="Times New Roman" panose="02020603050405020304" pitchFamily="18" charset="0"/>
                        </a:rPr>
                        <m:t>𝑙𝑖𝑛𝑘𝑠</m:t>
                      </m:r>
                    </m:oMath>
                  </m:oMathPara>
                </a14:m>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Font typeface="Arial" panose="020B0604020202020204" pitchFamily="34" charset="0"/>
                  <a:buNone/>
                </a:pPr>
                <a:endParaRPr lang="en-US" sz="2400" dirty="0">
                  <a:latin typeface="Times New Roman" panose="02020603050405020304" pitchFamily="18" charset="0"/>
                  <a:cs typeface="Times New Roman" panose="02020603050405020304" pitchFamily="18" charset="0"/>
                </a:endParaRPr>
              </a:p>
            </p:txBody>
          </p:sp>
        </mc:Choice>
        <mc:Fallback xmlns="">
          <p:sp>
            <p:nvSpPr>
              <p:cNvPr id="8" name="Content Placeholder 2">
                <a:extLst>
                  <a:ext uri="{FF2B5EF4-FFF2-40B4-BE49-F238E27FC236}">
                    <a16:creationId xmlns:a16="http://schemas.microsoft.com/office/drawing/2014/main" id="{B829A88E-78B4-4B03-864D-1610EFAAB182}"/>
                  </a:ext>
                </a:extLst>
              </p:cNvPr>
              <p:cNvSpPr txBox="1">
                <a:spLocks noRot="1" noChangeAspect="1" noMove="1" noResize="1" noEditPoints="1" noAdjustHandles="1" noChangeArrowheads="1" noChangeShapeType="1" noTextEdit="1"/>
              </p:cNvSpPr>
              <p:nvPr/>
            </p:nvSpPr>
            <p:spPr>
              <a:xfrm>
                <a:off x="838199" y="1687062"/>
                <a:ext cx="11084859" cy="4352607"/>
              </a:xfrm>
              <a:prstGeom prst="rect">
                <a:avLst/>
              </a:prstGeom>
              <a:blipFill>
                <a:blip r:embed="rId2"/>
                <a:stretch>
                  <a:fillRect l="-825" t="-1961"/>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67513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3. Mechanical design</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3.2 Chain drive calculation</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970D5EC8-65C8-4695-A3B9-5359F3DC955C}"/>
              </a:ext>
            </a:extLst>
          </p:cNvPr>
          <p:cNvGraphicFramePr>
            <a:graphicFrameLocks noGrp="1"/>
          </p:cNvGraphicFramePr>
          <p:nvPr>
            <p:extLst>
              <p:ext uri="{D42A27DB-BD31-4B8C-83A1-F6EECF244321}">
                <p14:modId xmlns:p14="http://schemas.microsoft.com/office/powerpoint/2010/main" val="1453744212"/>
              </p:ext>
            </p:extLst>
          </p:nvPr>
        </p:nvGraphicFramePr>
        <p:xfrm>
          <a:off x="1429215" y="2217968"/>
          <a:ext cx="9333567" cy="3104615"/>
        </p:xfrm>
        <a:graphic>
          <a:graphicData uri="http://schemas.openxmlformats.org/drawingml/2006/table">
            <a:tbl>
              <a:tblPr firstRow="1" firstCol="1" bandRow="1">
                <a:tableStyleId>{5C22544A-7EE6-4342-B048-85BDC9FD1C3A}</a:tableStyleId>
              </a:tblPr>
              <a:tblGrid>
                <a:gridCol w="3110523">
                  <a:extLst>
                    <a:ext uri="{9D8B030D-6E8A-4147-A177-3AD203B41FA5}">
                      <a16:colId xmlns:a16="http://schemas.microsoft.com/office/drawing/2014/main" val="3563476475"/>
                    </a:ext>
                  </a:extLst>
                </a:gridCol>
                <a:gridCol w="3111522">
                  <a:extLst>
                    <a:ext uri="{9D8B030D-6E8A-4147-A177-3AD203B41FA5}">
                      <a16:colId xmlns:a16="http://schemas.microsoft.com/office/drawing/2014/main" val="2651493908"/>
                    </a:ext>
                  </a:extLst>
                </a:gridCol>
                <a:gridCol w="3111522">
                  <a:extLst>
                    <a:ext uri="{9D8B030D-6E8A-4147-A177-3AD203B41FA5}">
                      <a16:colId xmlns:a16="http://schemas.microsoft.com/office/drawing/2014/main" val="3400160520"/>
                    </a:ext>
                  </a:extLst>
                </a:gridCol>
              </a:tblGrid>
              <a:tr h="620923">
                <a:tc>
                  <a:txBody>
                    <a:bodyPr/>
                    <a:lstStyle/>
                    <a:p>
                      <a:pPr>
                        <a:lnSpc>
                          <a:spcPct val="150000"/>
                        </a:lnSpc>
                        <a:spcAft>
                          <a:spcPts val="800"/>
                        </a:spcAft>
                      </a:pPr>
                      <a:r>
                        <a:rPr lang="en-US" sz="2400" dirty="0">
                          <a:effectLst/>
                          <a:latin typeface="Times New Roman" panose="02020603050405020304" pitchFamily="18" charset="0"/>
                          <a:cs typeface="Times New Roman" panose="02020603050405020304" pitchFamily="18" charset="0"/>
                        </a:rPr>
                        <a:t> </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pPr>
                      <a:r>
                        <a:rPr lang="en-US" sz="2400" dirty="0">
                          <a:effectLst/>
                          <a:latin typeface="Times New Roman" panose="02020603050405020304" pitchFamily="18" charset="0"/>
                          <a:cs typeface="Times New Roman" panose="02020603050405020304" pitchFamily="18" charset="0"/>
                        </a:rPr>
                        <a:t>Driving sprocket</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pPr>
                      <a:r>
                        <a:rPr lang="en-US" sz="2400" dirty="0">
                          <a:effectLst/>
                          <a:latin typeface="Times New Roman" panose="02020603050405020304" pitchFamily="18" charset="0"/>
                          <a:cs typeface="Times New Roman" panose="02020603050405020304" pitchFamily="18" charset="0"/>
                        </a:rPr>
                        <a:t>Driven sprocket</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53982713"/>
                  </a:ext>
                </a:extLst>
              </a:tr>
              <a:tr h="620923">
                <a:tc>
                  <a:txBody>
                    <a:bodyPr/>
                    <a:lstStyle/>
                    <a:p>
                      <a:pPr>
                        <a:lnSpc>
                          <a:spcPct val="150000"/>
                        </a:lnSpc>
                        <a:spcAft>
                          <a:spcPts val="800"/>
                        </a:spcAft>
                      </a:pPr>
                      <a:r>
                        <a:rPr lang="en-US" sz="2400">
                          <a:effectLst/>
                          <a:latin typeface="Times New Roman" panose="02020603050405020304" pitchFamily="18" charset="0"/>
                          <a:cs typeface="Times New Roman" panose="02020603050405020304" pitchFamily="18" charset="0"/>
                        </a:rPr>
                        <a:t>Type</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pPr>
                      <a:r>
                        <a:rPr lang="en-US" sz="2400">
                          <a:effectLst/>
                          <a:latin typeface="Times New Roman" panose="02020603050405020304" pitchFamily="18" charset="0"/>
                          <a:cs typeface="Times New Roman" panose="02020603050405020304" pitchFamily="18" charset="0"/>
                        </a:rPr>
                        <a:t>SP35B13 – D10</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pPr>
                      <a:r>
                        <a:rPr lang="en-US" sz="2400">
                          <a:effectLst/>
                          <a:latin typeface="Times New Roman" panose="02020603050405020304" pitchFamily="18" charset="0"/>
                          <a:cs typeface="Times New Roman" panose="02020603050405020304" pitchFamily="18" charset="0"/>
                        </a:rPr>
                        <a:t>SP35B13 – D20</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08236297"/>
                  </a:ext>
                </a:extLst>
              </a:tr>
              <a:tr h="620923">
                <a:tc>
                  <a:txBody>
                    <a:bodyPr/>
                    <a:lstStyle/>
                    <a:p>
                      <a:pPr>
                        <a:lnSpc>
                          <a:spcPct val="150000"/>
                        </a:lnSpc>
                        <a:spcAft>
                          <a:spcPts val="800"/>
                        </a:spcAft>
                      </a:pPr>
                      <a:r>
                        <a:rPr lang="en-US" sz="2400">
                          <a:effectLst/>
                          <a:latin typeface="Times New Roman" panose="02020603050405020304" pitchFamily="18" charset="0"/>
                          <a:cs typeface="Times New Roman" panose="02020603050405020304" pitchFamily="18" charset="0"/>
                        </a:rPr>
                        <a:t>Pitch diameter</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pPr>
                      <a:r>
                        <a:rPr lang="en-US" sz="2400" dirty="0">
                          <a:effectLst/>
                          <a:latin typeface="Times New Roman" panose="02020603050405020304" pitchFamily="18" charset="0"/>
                          <a:cs typeface="Times New Roman" panose="02020603050405020304" pitchFamily="18" charset="0"/>
                        </a:rPr>
                        <a:t>30.82mm</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pPr>
                      <a:r>
                        <a:rPr lang="en-US" sz="2400">
                          <a:effectLst/>
                          <a:latin typeface="Times New Roman" panose="02020603050405020304" pitchFamily="18" charset="0"/>
                          <a:cs typeface="Times New Roman" panose="02020603050405020304" pitchFamily="18" charset="0"/>
                        </a:rPr>
                        <a:t>30.82mm</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54186859"/>
                  </a:ext>
                </a:extLst>
              </a:tr>
              <a:tr h="620923">
                <a:tc>
                  <a:txBody>
                    <a:bodyPr/>
                    <a:lstStyle/>
                    <a:p>
                      <a:pPr>
                        <a:lnSpc>
                          <a:spcPct val="150000"/>
                        </a:lnSpc>
                        <a:spcAft>
                          <a:spcPts val="800"/>
                        </a:spcAft>
                      </a:pPr>
                      <a:r>
                        <a:rPr lang="en-US" sz="2400">
                          <a:effectLst/>
                          <a:latin typeface="Times New Roman" panose="02020603050405020304" pitchFamily="18" charset="0"/>
                          <a:cs typeface="Times New Roman" panose="02020603050405020304" pitchFamily="18" charset="0"/>
                        </a:rPr>
                        <a:t>Outer diameter</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pPr>
                      <a:r>
                        <a:rPr lang="en-US" sz="2400">
                          <a:effectLst/>
                          <a:latin typeface="Times New Roman" panose="02020603050405020304" pitchFamily="18" charset="0"/>
                          <a:cs typeface="Times New Roman" panose="02020603050405020304" pitchFamily="18" charset="0"/>
                        </a:rPr>
                        <a:t>34.08mm</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pPr>
                      <a:r>
                        <a:rPr lang="en-US" sz="2400">
                          <a:effectLst/>
                          <a:latin typeface="Times New Roman" panose="02020603050405020304" pitchFamily="18" charset="0"/>
                          <a:cs typeface="Times New Roman" panose="02020603050405020304" pitchFamily="18" charset="0"/>
                        </a:rPr>
                        <a:t>34.08mm</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91242542"/>
                  </a:ext>
                </a:extLst>
              </a:tr>
              <a:tr h="620923">
                <a:tc>
                  <a:txBody>
                    <a:bodyPr/>
                    <a:lstStyle/>
                    <a:p>
                      <a:pPr>
                        <a:lnSpc>
                          <a:spcPct val="150000"/>
                        </a:lnSpc>
                        <a:spcAft>
                          <a:spcPts val="800"/>
                        </a:spcAft>
                      </a:pPr>
                      <a:r>
                        <a:rPr lang="en-US" sz="2400">
                          <a:effectLst/>
                          <a:latin typeface="Times New Roman" panose="02020603050405020304" pitchFamily="18" charset="0"/>
                          <a:cs typeface="Times New Roman" panose="02020603050405020304" pitchFamily="18" charset="0"/>
                        </a:rPr>
                        <a:t>Chain pitch</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pPr>
                      <a:r>
                        <a:rPr lang="en-US" sz="2400">
                          <a:effectLst/>
                          <a:latin typeface="Times New Roman" panose="02020603050405020304" pitchFamily="18" charset="0"/>
                          <a:cs typeface="Times New Roman" panose="02020603050405020304" pitchFamily="18" charset="0"/>
                        </a:rPr>
                        <a:t>9.525mm</a:t>
                      </a:r>
                      <a:endParaRPr lang="en-US" sz="2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800"/>
                        </a:spcAft>
                      </a:pPr>
                      <a:r>
                        <a:rPr lang="en-US" sz="2400" dirty="0">
                          <a:effectLst/>
                          <a:latin typeface="Times New Roman" panose="02020603050405020304" pitchFamily="18" charset="0"/>
                          <a:cs typeface="Times New Roman" panose="02020603050405020304" pitchFamily="18" charset="0"/>
                        </a:rPr>
                        <a:t>9.525mm</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90067830"/>
                  </a:ext>
                </a:extLst>
              </a:tr>
            </a:tbl>
          </a:graphicData>
        </a:graphic>
      </p:graphicFrame>
      <p:sp>
        <p:nvSpPr>
          <p:cNvPr id="9" name="Content Placeholder 2">
            <a:extLst>
              <a:ext uri="{FF2B5EF4-FFF2-40B4-BE49-F238E27FC236}">
                <a16:creationId xmlns:a16="http://schemas.microsoft.com/office/drawing/2014/main" id="{62337C91-F81E-4811-979C-A7F4903FEC00}"/>
              </a:ext>
            </a:extLst>
          </p:cNvPr>
          <p:cNvSpPr txBox="1">
            <a:spLocks/>
          </p:cNvSpPr>
          <p:nvPr/>
        </p:nvSpPr>
        <p:spPr>
          <a:xfrm>
            <a:off x="838200" y="1687062"/>
            <a:ext cx="10515599" cy="41407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Sprocket specification is shown in the table below</a:t>
            </a:r>
          </a:p>
          <a:p>
            <a:pPr marL="0" indent="0">
              <a:buFont typeface="Arial" panose="020B0604020202020204" pitchFamily="34" charset="0"/>
              <a:buNone/>
            </a:pPr>
            <a:endParaRPr lang="en-US" sz="2400" dirty="0"/>
          </a:p>
        </p:txBody>
      </p:sp>
    </p:spTree>
    <p:extLst>
      <p:ext uri="{BB962C8B-B14F-4D97-AF65-F5344CB8AC3E}">
        <p14:creationId xmlns:p14="http://schemas.microsoft.com/office/powerpoint/2010/main" val="2229098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3. Mechanical design</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3.3 Tag labelling module motor selection</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2">
            <a:extLst>
              <a:ext uri="{FF2B5EF4-FFF2-40B4-BE49-F238E27FC236}">
                <a16:creationId xmlns:a16="http://schemas.microsoft.com/office/drawing/2014/main" id="{17F8E4C7-178E-4AF5-AA03-0BBC576CF10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3073" name="Picture 19">
            <a:extLst>
              <a:ext uri="{FF2B5EF4-FFF2-40B4-BE49-F238E27FC236}">
                <a16:creationId xmlns:a16="http://schemas.microsoft.com/office/drawing/2014/main" id="{E7642596-B033-43D3-B326-A792D59B43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2401" y="1687062"/>
            <a:ext cx="5407198" cy="3578495"/>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3">
            <a:extLst>
              <a:ext uri="{FF2B5EF4-FFF2-40B4-BE49-F238E27FC236}">
                <a16:creationId xmlns:a16="http://schemas.microsoft.com/office/drawing/2014/main" id="{13AC5C33-C041-44D0-8A33-18B9405B1A43}"/>
              </a:ext>
            </a:extLst>
          </p:cNvPr>
          <p:cNvSpPr>
            <a:spLocks noChangeArrowheads="1"/>
          </p:cNvSpPr>
          <p:nvPr/>
        </p:nvSpPr>
        <p:spPr bwMode="auto">
          <a:xfrm>
            <a:off x="4131578" y="5356466"/>
            <a:ext cx="3928843"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500" b="0" i="1" u="none" strike="noStrike" cap="none" normalizeH="0" baseline="0" dirty="0" bmk="_Toc120006654">
                <a:ln>
                  <a:noFill/>
                </a:ln>
                <a:solidFill>
                  <a:schemeClr val="tx1"/>
                </a:solidFill>
                <a:effectLst/>
                <a:latin typeface="Arial" panose="020B0604020202020204" pitchFamily="34" charset="0"/>
                <a:ea typeface="Calibri" panose="020F0502020204030204" pitchFamily="34" charset="0"/>
                <a:cs typeface="Times New Roman" panose="02020603050405020304" pitchFamily="18" charset="0"/>
              </a:rPr>
              <a:t>Diagram of belt conveyor system</a:t>
            </a:r>
            <a:endParaRPr kumimoji="0" lang="en-US" altLang="en-US" sz="15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A94F7C97-25DA-45B3-945B-1F5D08E81294}"/>
              </a:ext>
            </a:extLst>
          </p:cNvPr>
          <p:cNvSpPr txBox="1"/>
          <p:nvPr/>
        </p:nvSpPr>
        <p:spPr>
          <a:xfrm>
            <a:off x="1124504" y="5768066"/>
            <a:ext cx="9942990" cy="368755"/>
          </a:xfrm>
          <a:prstGeom prst="rect">
            <a:avLst/>
          </a:prstGeom>
          <a:noFill/>
        </p:spPr>
        <p:txBody>
          <a:bodyPr wrap="square" rtlCol="0">
            <a:spAutoFit/>
          </a:bodyPr>
          <a:lstStyle/>
          <a:p>
            <a:pPr algn="ctr">
              <a:lnSpc>
                <a:spcPct val="107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Note: 1 – Tag roll, 2 – Retract spring, 3 – Tensing arm, 4 – Idle roller, 5 – Active roller, 6 – Retract roller.</a:t>
            </a:r>
          </a:p>
        </p:txBody>
      </p:sp>
    </p:spTree>
    <p:extLst>
      <p:ext uri="{BB962C8B-B14F-4D97-AF65-F5344CB8AC3E}">
        <p14:creationId xmlns:p14="http://schemas.microsoft.com/office/powerpoint/2010/main" val="24481974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3. Mechanical design</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3.3 Tag labelling module motor selection</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B829A88E-78B4-4B03-864D-1610EFAAB182}"/>
                  </a:ext>
                </a:extLst>
              </p:cNvPr>
              <p:cNvSpPr txBox="1">
                <a:spLocks/>
              </p:cNvSpPr>
              <p:nvPr/>
            </p:nvSpPr>
            <p:spPr>
              <a:xfrm>
                <a:off x="838199" y="1687062"/>
                <a:ext cx="11084859" cy="43526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Times New Roman" panose="02020603050405020304" pitchFamily="18" charset="0"/>
                    <a:cs typeface="Times New Roman" panose="02020603050405020304" pitchFamily="18" charset="0"/>
                  </a:rPr>
                  <a:t>The minimum time to dispense one RFID tag is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𝑡</m:t>
                        </m:r>
                      </m:e>
                      <m:sub>
                        <m:r>
                          <a:rPr lang="en-US" sz="2400" b="0" i="1" smtClean="0">
                            <a:latin typeface="Cambria Math" panose="02040503050406030204" pitchFamily="18" charset="0"/>
                            <a:cs typeface="Times New Roman" panose="02020603050405020304" pitchFamily="18" charset="0"/>
                          </a:rPr>
                          <m:t>𝑚𝑖𝑛</m:t>
                        </m:r>
                      </m:sub>
                    </m:sSub>
                    <m:r>
                      <a:rPr lang="en-US" sz="2400" b="0" i="1" smtClean="0">
                        <a:latin typeface="Cambria Math" panose="02040503050406030204" pitchFamily="18" charset="0"/>
                        <a:cs typeface="Times New Roman" panose="02020603050405020304" pitchFamily="18" charset="0"/>
                      </a:rPr>
                      <m:t>=0.2</m:t>
                    </m:r>
                    <m:r>
                      <a:rPr lang="en-US" sz="2400" b="0" i="1" smtClean="0">
                        <a:latin typeface="Cambria Math" panose="02040503050406030204" pitchFamily="18" charset="0"/>
                        <a:cs typeface="Times New Roman" panose="02020603050405020304" pitchFamily="18" charset="0"/>
                      </a:rPr>
                      <m:t>𝑠</m:t>
                    </m:r>
                  </m:oMath>
                </a14:m>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The tag roll diameter is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𝑑</m:t>
                        </m:r>
                      </m:e>
                      <m:sub>
                        <m:r>
                          <a:rPr lang="en-US" sz="2400" b="0" i="1" smtClean="0">
                            <a:latin typeface="Cambria Math" panose="02040503050406030204" pitchFamily="18" charset="0"/>
                            <a:cs typeface="Times New Roman" panose="02020603050405020304" pitchFamily="18" charset="0"/>
                          </a:rPr>
                          <m:t>𝑟𝑜𝑙𝑙</m:t>
                        </m:r>
                      </m:sub>
                    </m:sSub>
                    <m:r>
                      <a:rPr lang="en-US" sz="2400" b="0" i="1" smtClean="0">
                        <a:latin typeface="Cambria Math" panose="02040503050406030204" pitchFamily="18" charset="0"/>
                        <a:cs typeface="Times New Roman" panose="02020603050405020304" pitchFamily="18" charset="0"/>
                      </a:rPr>
                      <m:t>=240</m:t>
                    </m:r>
                    <m:r>
                      <a:rPr lang="en-US" sz="2400" b="0" i="1" smtClean="0">
                        <a:latin typeface="Cambria Math" panose="02040503050406030204" pitchFamily="18" charset="0"/>
                        <a:cs typeface="Times New Roman" panose="02020603050405020304" pitchFamily="18" charset="0"/>
                      </a:rPr>
                      <m:t>𝑚𝑚</m:t>
                    </m:r>
                  </m:oMath>
                </a14:m>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The diameter of roller is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𝑑</m:t>
                        </m:r>
                      </m:e>
                      <m:sub>
                        <m:r>
                          <a:rPr lang="en-US" sz="2400" b="0" i="1" smtClean="0">
                            <a:latin typeface="Cambria Math" panose="02040503050406030204" pitchFamily="18" charset="0"/>
                            <a:cs typeface="Times New Roman" panose="02020603050405020304" pitchFamily="18" charset="0"/>
                          </a:rPr>
                          <m:t>𝑟𝑜𝑙𝑙𝑒𝑟</m:t>
                        </m:r>
                      </m:sub>
                    </m:sSub>
                    <m:r>
                      <a:rPr lang="en-US" sz="2400" b="0" i="1" smtClean="0">
                        <a:latin typeface="Cambria Math" panose="02040503050406030204" pitchFamily="18" charset="0"/>
                        <a:cs typeface="Times New Roman" panose="02020603050405020304" pitchFamily="18" charset="0"/>
                      </a:rPr>
                      <m:t>=36</m:t>
                    </m:r>
                    <m:r>
                      <a:rPr lang="en-US" sz="2400" b="0" i="1" smtClean="0">
                        <a:latin typeface="Cambria Math" panose="02040503050406030204" pitchFamily="18" charset="0"/>
                        <a:cs typeface="Times New Roman" panose="02020603050405020304" pitchFamily="18" charset="0"/>
                      </a:rPr>
                      <m:t>𝑚𝑚</m:t>
                    </m:r>
                  </m:oMath>
                </a14:m>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The diameter of idle shaft is </a:t>
                </a:r>
                <a14:m>
                  <m:oMath xmlns:m="http://schemas.openxmlformats.org/officeDocument/2006/math">
                    <m:sSub>
                      <m:sSubPr>
                        <m:ctrlPr>
                          <a:rPr lang="en-US" sz="2400" i="1" dirty="0" smtClean="0">
                            <a:latin typeface="Cambria Math" panose="02040503050406030204" pitchFamily="18" charset="0"/>
                            <a:cs typeface="Times New Roman" panose="02020603050405020304" pitchFamily="18" charset="0"/>
                          </a:rPr>
                        </m:ctrlPr>
                      </m:sSubPr>
                      <m:e>
                        <m:r>
                          <a:rPr lang="en-US" sz="2400" i="1" dirty="0" smtClean="0">
                            <a:latin typeface="Cambria Math" panose="02040503050406030204" pitchFamily="18" charset="0"/>
                            <a:cs typeface="Times New Roman" panose="02020603050405020304" pitchFamily="18" charset="0"/>
                          </a:rPr>
                          <m:t>𝑑</m:t>
                        </m:r>
                      </m:e>
                      <m:sub>
                        <m:r>
                          <a:rPr lang="en-US" sz="2400" i="1" dirty="0" smtClean="0">
                            <a:latin typeface="Cambria Math" panose="02040503050406030204" pitchFamily="18" charset="0"/>
                            <a:cs typeface="Times New Roman" panose="02020603050405020304" pitchFamily="18" charset="0"/>
                          </a:rPr>
                          <m:t>𝑖𝑑𝑙𝑒</m:t>
                        </m:r>
                        <m:r>
                          <a:rPr lang="en-US" sz="2400" i="1" dirty="0" smtClean="0">
                            <a:latin typeface="Cambria Math" panose="02040503050406030204" pitchFamily="18" charset="0"/>
                            <a:cs typeface="Times New Roman" panose="02020603050405020304" pitchFamily="18" charset="0"/>
                          </a:rPr>
                          <m:t> </m:t>
                        </m:r>
                        <m:r>
                          <a:rPr lang="en-US" sz="2400" i="1" dirty="0" smtClean="0">
                            <a:latin typeface="Cambria Math" panose="02040503050406030204" pitchFamily="18" charset="0"/>
                            <a:cs typeface="Times New Roman" panose="02020603050405020304" pitchFamily="18" charset="0"/>
                          </a:rPr>
                          <m:t>𝑠h𝑎𝑓𝑡</m:t>
                        </m:r>
                      </m:sub>
                    </m:sSub>
                    <m:r>
                      <a:rPr lang="en-US" sz="2400" i="1" dirty="0" smtClean="0">
                        <a:latin typeface="Cambria Math" panose="02040503050406030204" pitchFamily="18" charset="0"/>
                        <a:cs typeface="Times New Roman" panose="02020603050405020304" pitchFamily="18" charset="0"/>
                      </a:rPr>
                      <m:t>=30</m:t>
                    </m:r>
                    <m:r>
                      <a:rPr lang="en-US" sz="2400" i="1" dirty="0" smtClean="0">
                        <a:latin typeface="Cambria Math" panose="02040503050406030204" pitchFamily="18" charset="0"/>
                        <a:cs typeface="Times New Roman" panose="02020603050405020304" pitchFamily="18" charset="0"/>
                      </a:rPr>
                      <m:t>𝑚𝑚</m:t>
                    </m:r>
                  </m:oMath>
                </a14:m>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The diameter of active roller is </a:t>
                </a:r>
                <a14:m>
                  <m:oMath xmlns:m="http://schemas.openxmlformats.org/officeDocument/2006/math">
                    <m:sSub>
                      <m:sSubPr>
                        <m:ctrlPr>
                          <a:rPr lang="en-US" sz="2400" i="1" dirty="0" smtClean="0">
                            <a:latin typeface="Cambria Math" panose="02040503050406030204" pitchFamily="18" charset="0"/>
                            <a:cs typeface="Times New Roman" panose="02020603050405020304" pitchFamily="18" charset="0"/>
                          </a:rPr>
                        </m:ctrlPr>
                      </m:sSubPr>
                      <m:e>
                        <m:r>
                          <a:rPr lang="en-US" sz="2400" i="1" dirty="0" smtClean="0">
                            <a:latin typeface="Cambria Math" panose="02040503050406030204" pitchFamily="18" charset="0"/>
                            <a:cs typeface="Times New Roman" panose="02020603050405020304" pitchFamily="18" charset="0"/>
                          </a:rPr>
                          <m:t>𝑑</m:t>
                        </m:r>
                      </m:e>
                      <m:sub>
                        <m:r>
                          <a:rPr lang="en-US" sz="2400" i="1" dirty="0" smtClean="0">
                            <a:latin typeface="Cambria Math" panose="02040503050406030204" pitchFamily="18" charset="0"/>
                            <a:cs typeface="Times New Roman" panose="02020603050405020304" pitchFamily="18" charset="0"/>
                          </a:rPr>
                          <m:t>𝑎𝑐𝑡𝑖𝑣𝑒</m:t>
                        </m:r>
                        <m:r>
                          <a:rPr lang="en-US" sz="2400" i="1" dirty="0" smtClean="0">
                            <a:latin typeface="Cambria Math" panose="02040503050406030204" pitchFamily="18" charset="0"/>
                            <a:cs typeface="Times New Roman" panose="02020603050405020304" pitchFamily="18" charset="0"/>
                          </a:rPr>
                          <m:t> </m:t>
                        </m:r>
                        <m:r>
                          <a:rPr lang="en-US" sz="2400" i="1" dirty="0" smtClean="0">
                            <a:latin typeface="Cambria Math" panose="02040503050406030204" pitchFamily="18" charset="0"/>
                            <a:cs typeface="Times New Roman" panose="02020603050405020304" pitchFamily="18" charset="0"/>
                          </a:rPr>
                          <m:t>𝑟𝑜𝑙𝑙𝑒𝑟</m:t>
                        </m:r>
                      </m:sub>
                    </m:sSub>
                    <m:r>
                      <a:rPr lang="en-US" sz="2400" i="1" dirty="0" smtClean="0">
                        <a:latin typeface="Cambria Math" panose="02040503050406030204" pitchFamily="18" charset="0"/>
                        <a:cs typeface="Times New Roman" panose="02020603050405020304" pitchFamily="18" charset="0"/>
                      </a:rPr>
                      <m:t>=32</m:t>
                    </m:r>
                    <m:r>
                      <a:rPr lang="en-US" sz="2400" i="1" dirty="0" smtClean="0">
                        <a:latin typeface="Cambria Math" panose="02040503050406030204" pitchFamily="18" charset="0"/>
                        <a:cs typeface="Times New Roman" panose="02020603050405020304" pitchFamily="18" charset="0"/>
                      </a:rPr>
                      <m:t>𝑚𝑚</m:t>
                    </m:r>
                  </m:oMath>
                </a14:m>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The tag length is </a:t>
                </a:r>
                <a14:m>
                  <m:oMath xmlns:m="http://schemas.openxmlformats.org/officeDocument/2006/math">
                    <m:sSub>
                      <m:sSubPr>
                        <m:ctrlPr>
                          <a:rPr lang="en-US" sz="2400" i="1" dirty="0" smtClean="0">
                            <a:latin typeface="Cambria Math" panose="02040503050406030204" pitchFamily="18" charset="0"/>
                            <a:cs typeface="Times New Roman" panose="02020603050405020304" pitchFamily="18" charset="0"/>
                          </a:rPr>
                        </m:ctrlPr>
                      </m:sSubPr>
                      <m:e>
                        <m:r>
                          <a:rPr lang="en-US" sz="2400" i="1" dirty="0" smtClean="0">
                            <a:latin typeface="Cambria Math" panose="02040503050406030204" pitchFamily="18" charset="0"/>
                            <a:cs typeface="Times New Roman" panose="02020603050405020304" pitchFamily="18" charset="0"/>
                          </a:rPr>
                          <m:t>𝑙</m:t>
                        </m:r>
                      </m:e>
                      <m:sub>
                        <m:r>
                          <a:rPr lang="en-US" sz="2400" i="1" dirty="0" smtClean="0">
                            <a:latin typeface="Cambria Math" panose="02040503050406030204" pitchFamily="18" charset="0"/>
                            <a:cs typeface="Times New Roman" panose="02020603050405020304" pitchFamily="18" charset="0"/>
                          </a:rPr>
                          <m:t>𝑡𝑎𝑔</m:t>
                        </m:r>
                      </m:sub>
                    </m:sSub>
                    <m:r>
                      <a:rPr lang="en-US" sz="2400" i="1" dirty="0" smtClean="0">
                        <a:latin typeface="Cambria Math" panose="02040503050406030204" pitchFamily="18" charset="0"/>
                        <a:cs typeface="Times New Roman" panose="02020603050405020304" pitchFamily="18" charset="0"/>
                      </a:rPr>
                      <m:t>=</m:t>
                    </m:r>
                    <m:r>
                      <a:rPr lang="en-US" sz="2400" i="1" dirty="0">
                        <a:latin typeface="Cambria Math" panose="02040503050406030204" pitchFamily="18" charset="0"/>
                        <a:cs typeface="Times New Roman" panose="02020603050405020304" pitchFamily="18" charset="0"/>
                      </a:rPr>
                      <m:t>21</m:t>
                    </m:r>
                    <m:r>
                      <a:rPr lang="en-US" sz="2400" i="1" dirty="0">
                        <a:latin typeface="Cambria Math" panose="02040503050406030204" pitchFamily="18" charset="0"/>
                        <a:cs typeface="Times New Roman" panose="02020603050405020304" pitchFamily="18" charset="0"/>
                      </a:rPr>
                      <m:t>𝑚𝑚</m:t>
                    </m:r>
                  </m:oMath>
                </a14:m>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The gap length between 2 tags is </a:t>
                </a:r>
                <a14:m>
                  <m:oMath xmlns:m="http://schemas.openxmlformats.org/officeDocument/2006/math">
                    <m:sSub>
                      <m:sSubPr>
                        <m:ctrlPr>
                          <a:rPr lang="en-US" sz="2400" i="1" dirty="0" smtClean="0">
                            <a:latin typeface="Cambria Math" panose="02040503050406030204" pitchFamily="18" charset="0"/>
                            <a:cs typeface="Times New Roman" panose="02020603050405020304" pitchFamily="18" charset="0"/>
                          </a:rPr>
                        </m:ctrlPr>
                      </m:sSubPr>
                      <m:e>
                        <m:r>
                          <a:rPr lang="en-US" sz="2400" i="1" dirty="0" smtClean="0">
                            <a:latin typeface="Cambria Math" panose="02040503050406030204" pitchFamily="18" charset="0"/>
                            <a:cs typeface="Times New Roman" panose="02020603050405020304" pitchFamily="18" charset="0"/>
                          </a:rPr>
                          <m:t>𝑙</m:t>
                        </m:r>
                      </m:e>
                      <m:sub>
                        <m:r>
                          <a:rPr lang="en-US" sz="2400" i="1" dirty="0" smtClean="0">
                            <a:latin typeface="Cambria Math" panose="02040503050406030204" pitchFamily="18" charset="0"/>
                            <a:cs typeface="Times New Roman" panose="02020603050405020304" pitchFamily="18" charset="0"/>
                          </a:rPr>
                          <m:t>𝑔𝑎𝑝</m:t>
                        </m:r>
                      </m:sub>
                    </m:sSub>
                    <m:r>
                      <a:rPr lang="en-US" sz="2400" i="1" dirty="0">
                        <a:latin typeface="Cambria Math" panose="02040503050406030204" pitchFamily="18" charset="0"/>
                        <a:cs typeface="Times New Roman" panose="02020603050405020304" pitchFamily="18" charset="0"/>
                      </a:rPr>
                      <m:t>=3</m:t>
                    </m:r>
                    <m:r>
                      <a:rPr lang="en-US" sz="2400" i="1" dirty="0">
                        <a:latin typeface="Cambria Math" panose="02040503050406030204" pitchFamily="18" charset="0"/>
                        <a:cs typeface="Times New Roman" panose="02020603050405020304" pitchFamily="18" charset="0"/>
                      </a:rPr>
                      <m:t>𝑚𝑚</m:t>
                    </m:r>
                  </m:oMath>
                </a14:m>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Timing belt transmission ratio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𝑢</m:t>
                        </m:r>
                      </m:e>
                      <m:sub>
                        <m:r>
                          <a:rPr lang="en-US" sz="2400" b="0" i="1" smtClean="0">
                            <a:latin typeface="Cambria Math" panose="02040503050406030204" pitchFamily="18" charset="0"/>
                            <a:cs typeface="Times New Roman" panose="02020603050405020304" pitchFamily="18" charset="0"/>
                          </a:rPr>
                          <m:t>𝑡𝑖𝑚𝑖𝑛𝑔</m:t>
                        </m:r>
                      </m:sub>
                    </m:sSub>
                    <m:r>
                      <a:rPr lang="en-US" sz="2400" b="0" i="1" smtClean="0">
                        <a:latin typeface="Cambria Math" panose="02040503050406030204" pitchFamily="18" charset="0"/>
                        <a:cs typeface="Times New Roman" panose="02020603050405020304" pitchFamily="18" charset="0"/>
                      </a:rPr>
                      <m:t>=2</m:t>
                    </m:r>
                  </m:oMath>
                </a14:m>
                <a:endParaRPr lang="en-US"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sz="2400" dirty="0">
                  <a:latin typeface="Times New Roman" panose="02020603050405020304" pitchFamily="18" charset="0"/>
                  <a:cs typeface="Times New Roman" panose="02020603050405020304" pitchFamily="18" charset="0"/>
                </a:endParaRPr>
              </a:p>
            </p:txBody>
          </p:sp>
        </mc:Choice>
        <mc:Fallback xmlns="">
          <p:sp>
            <p:nvSpPr>
              <p:cNvPr id="8" name="Content Placeholder 2">
                <a:extLst>
                  <a:ext uri="{FF2B5EF4-FFF2-40B4-BE49-F238E27FC236}">
                    <a16:creationId xmlns:a16="http://schemas.microsoft.com/office/drawing/2014/main" id="{B829A88E-78B4-4B03-864D-1610EFAAB182}"/>
                  </a:ext>
                </a:extLst>
              </p:cNvPr>
              <p:cNvSpPr txBox="1">
                <a:spLocks noRot="1" noChangeAspect="1" noMove="1" noResize="1" noEditPoints="1" noAdjustHandles="1" noChangeArrowheads="1" noChangeShapeType="1" noTextEdit="1"/>
              </p:cNvSpPr>
              <p:nvPr/>
            </p:nvSpPr>
            <p:spPr>
              <a:xfrm>
                <a:off x="838199" y="1687062"/>
                <a:ext cx="11084859" cy="4352607"/>
              </a:xfrm>
              <a:prstGeom prst="rect">
                <a:avLst/>
              </a:prstGeom>
              <a:blipFill>
                <a:blip r:embed="rId2"/>
                <a:stretch>
                  <a:fillRect l="-825" t="-1961"/>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04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3. Mechanical design</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3.3 Tag labelling module motor selection</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B829A88E-78B4-4B03-864D-1610EFAAB182}"/>
                  </a:ext>
                </a:extLst>
              </p:cNvPr>
              <p:cNvSpPr txBox="1">
                <a:spLocks/>
              </p:cNvSpPr>
              <p:nvPr/>
            </p:nvSpPr>
            <p:spPr>
              <a:xfrm>
                <a:off x="838199" y="1687062"/>
                <a:ext cx="11084859" cy="43526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Times New Roman" panose="02020603050405020304" pitchFamily="18" charset="0"/>
                    <a:cs typeface="Times New Roman" panose="02020603050405020304" pitchFamily="18" charset="0"/>
                  </a:rPr>
                  <a:t>From the given data and calculation:</a:t>
                </a:r>
              </a:p>
              <a:p>
                <a:r>
                  <a:rPr lang="en-US" sz="2400" dirty="0">
                    <a:latin typeface="Times New Roman" panose="02020603050405020304" pitchFamily="18" charset="0"/>
                    <a:cs typeface="Times New Roman" panose="02020603050405020304" pitchFamily="18" charset="0"/>
                  </a:rPr>
                  <a:t>Motor required speed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𝑛</m:t>
                        </m:r>
                      </m:e>
                      <m:sub>
                        <m:r>
                          <a:rPr lang="en-US" sz="2400" b="0" i="1" smtClean="0">
                            <a:latin typeface="Cambria Math" panose="02040503050406030204" pitchFamily="18" charset="0"/>
                            <a:cs typeface="Times New Roman" panose="02020603050405020304" pitchFamily="18" charset="0"/>
                          </a:rPr>
                          <m:t>𝑠𝑡𝑒𝑝𝑝𝑒𝑟</m:t>
                        </m:r>
                      </m:sub>
                    </m:sSub>
                    <m:r>
                      <a:rPr lang="en-US" sz="2400" b="0" i="1" smtClean="0">
                        <a:latin typeface="Cambria Math" panose="02040503050406030204" pitchFamily="18" charset="0"/>
                        <a:cs typeface="Times New Roman" panose="02020603050405020304" pitchFamily="18" charset="0"/>
                      </a:rPr>
                      <m:t>=280</m:t>
                    </m:r>
                    <m:r>
                      <a:rPr lang="en-US" sz="2400" b="0" i="1" smtClean="0">
                        <a:latin typeface="Cambria Math" panose="02040503050406030204" pitchFamily="18" charset="0"/>
                        <a:cs typeface="Times New Roman" panose="02020603050405020304" pitchFamily="18" charset="0"/>
                      </a:rPr>
                      <m:t>𝑟𝑝𝑚</m:t>
                    </m:r>
                  </m:oMath>
                </a14:m>
                <a:endParaRPr lang="en-US" sz="2400" b="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Motor required torque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𝑇</m:t>
                        </m:r>
                      </m:e>
                      <m:sub>
                        <m:r>
                          <a:rPr lang="en-US" sz="2400" b="0" i="1" smtClean="0">
                            <a:latin typeface="Cambria Math" panose="02040503050406030204" pitchFamily="18" charset="0"/>
                            <a:cs typeface="Times New Roman" panose="02020603050405020304" pitchFamily="18" charset="0"/>
                          </a:rPr>
                          <m:t>𝑠𝑡𝑒𝑝𝑝𝑒𝑟</m:t>
                        </m:r>
                      </m:sub>
                    </m:sSub>
                    <m:r>
                      <a:rPr lang="en-US" sz="2400" b="0" i="1" smtClean="0">
                        <a:latin typeface="Cambria Math" panose="02040503050406030204" pitchFamily="18" charset="0"/>
                        <a:cs typeface="Times New Roman" panose="02020603050405020304" pitchFamily="18" charset="0"/>
                      </a:rPr>
                      <m:t>=94</m:t>
                    </m:r>
                    <m:r>
                      <a:rPr lang="en-US" sz="2400" b="0" i="1" smtClean="0">
                        <a:latin typeface="Cambria Math" panose="02040503050406030204" pitchFamily="18" charset="0"/>
                        <a:cs typeface="Times New Roman" panose="02020603050405020304" pitchFamily="18" charset="0"/>
                      </a:rPr>
                      <m:t>𝑁𝑐𝑚</m:t>
                    </m:r>
                  </m:oMath>
                </a14:m>
                <a:endParaRPr lang="en-US" sz="2400" b="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Choose stepper motor 57HS21A, which has the torque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𝑇</m:t>
                        </m:r>
                      </m:e>
                      <m:sub>
                        <m:r>
                          <a:rPr lang="en-US" sz="2400" b="0" i="1" smtClean="0">
                            <a:latin typeface="Cambria Math" panose="02040503050406030204" pitchFamily="18" charset="0"/>
                            <a:cs typeface="Times New Roman" panose="02020603050405020304" pitchFamily="18" charset="0"/>
                          </a:rPr>
                          <m:t>𝑠𝑡𝑒𝑝𝑝𝑒𝑟</m:t>
                        </m:r>
                      </m:sub>
                    </m:sSub>
                    <m:r>
                      <a:rPr lang="en-US" sz="2400" b="0" i="1" smtClean="0">
                        <a:latin typeface="Cambria Math" panose="02040503050406030204" pitchFamily="18" charset="0"/>
                        <a:cs typeface="Times New Roman" panose="02020603050405020304" pitchFamily="18" charset="0"/>
                      </a:rPr>
                      <m:t>=100</m:t>
                    </m:r>
                    <m:r>
                      <a:rPr lang="en-US" sz="2400" b="0" i="1" smtClean="0">
                        <a:latin typeface="Cambria Math" panose="02040503050406030204" pitchFamily="18" charset="0"/>
                        <a:cs typeface="Times New Roman" panose="02020603050405020304" pitchFamily="18" charset="0"/>
                      </a:rPr>
                      <m:t>𝑁𝑐𝑚</m:t>
                    </m:r>
                  </m:oMath>
                </a14:m>
                <a:r>
                  <a:rPr lang="en-US" sz="2400" dirty="0">
                    <a:latin typeface="Times New Roman" panose="02020603050405020304" pitchFamily="18" charset="0"/>
                    <a:cs typeface="Times New Roman" panose="02020603050405020304" pitchFamily="18" charset="0"/>
                  </a:rPr>
                  <a:t> at the speed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𝑛</m:t>
                        </m:r>
                      </m:e>
                      <m:sub>
                        <m:r>
                          <a:rPr lang="en-US" sz="2400" b="0" i="1" smtClean="0">
                            <a:latin typeface="Cambria Math" panose="02040503050406030204" pitchFamily="18" charset="0"/>
                            <a:cs typeface="Times New Roman" panose="02020603050405020304" pitchFamily="18" charset="0"/>
                          </a:rPr>
                          <m:t>𝑠𝑡𝑒𝑝𝑝𝑒𝑟</m:t>
                        </m:r>
                      </m:sub>
                    </m:sSub>
                    <m:r>
                      <a:rPr lang="en-US" sz="2400" b="0" i="1" smtClean="0">
                        <a:latin typeface="Cambria Math" panose="02040503050406030204" pitchFamily="18" charset="0"/>
                        <a:cs typeface="Times New Roman" panose="02020603050405020304" pitchFamily="18" charset="0"/>
                      </a:rPr>
                      <m:t>=280</m:t>
                    </m:r>
                    <m:r>
                      <a:rPr lang="en-US" sz="2400" b="0" i="1" smtClean="0">
                        <a:latin typeface="Cambria Math" panose="02040503050406030204" pitchFamily="18" charset="0"/>
                        <a:cs typeface="Times New Roman" panose="02020603050405020304" pitchFamily="18" charset="0"/>
                      </a:rPr>
                      <m:t>𝑟𝑝𝑚</m:t>
                    </m:r>
                  </m:oMath>
                </a14:m>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sz="2400" dirty="0">
                  <a:latin typeface="Times New Roman" panose="02020603050405020304" pitchFamily="18" charset="0"/>
                  <a:cs typeface="Times New Roman" panose="02020603050405020304" pitchFamily="18" charset="0"/>
                </a:endParaRPr>
              </a:p>
            </p:txBody>
          </p:sp>
        </mc:Choice>
        <mc:Fallback xmlns="">
          <p:sp>
            <p:nvSpPr>
              <p:cNvPr id="8" name="Content Placeholder 2">
                <a:extLst>
                  <a:ext uri="{FF2B5EF4-FFF2-40B4-BE49-F238E27FC236}">
                    <a16:creationId xmlns:a16="http://schemas.microsoft.com/office/drawing/2014/main" id="{B829A88E-78B4-4B03-864D-1610EFAAB182}"/>
                  </a:ext>
                </a:extLst>
              </p:cNvPr>
              <p:cNvSpPr txBox="1">
                <a:spLocks noRot="1" noChangeAspect="1" noMove="1" noResize="1" noEditPoints="1" noAdjustHandles="1" noChangeArrowheads="1" noChangeShapeType="1" noTextEdit="1"/>
              </p:cNvSpPr>
              <p:nvPr/>
            </p:nvSpPr>
            <p:spPr>
              <a:xfrm>
                <a:off x="838199" y="1687062"/>
                <a:ext cx="11084859" cy="4352607"/>
              </a:xfrm>
              <a:prstGeom prst="rect">
                <a:avLst/>
              </a:prstGeom>
              <a:blipFill>
                <a:blip r:embed="rId2"/>
                <a:stretch>
                  <a:fillRect l="-825" t="-1961" r="-385"/>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1871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4. Electrical design</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4.1 Microcontroller</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B829A88E-78B4-4B03-864D-1610EFAAB182}"/>
              </a:ext>
            </a:extLst>
          </p:cNvPr>
          <p:cNvSpPr txBox="1">
            <a:spLocks/>
          </p:cNvSpPr>
          <p:nvPr/>
        </p:nvSpPr>
        <p:spPr>
          <a:xfrm>
            <a:off x="838199" y="1687062"/>
            <a:ext cx="11084859" cy="43526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Times New Roman" panose="02020603050405020304" pitchFamily="18" charset="0"/>
                <a:cs typeface="Times New Roman" panose="02020603050405020304" pitchFamily="18" charset="0"/>
              </a:rPr>
              <a:t>Choose ESP32 to receive and update data via </a:t>
            </a:r>
            <a:r>
              <a:rPr lang="en-US" sz="2400" dirty="0" err="1">
                <a:latin typeface="Times New Roman" panose="02020603050405020304" pitchFamily="18" charset="0"/>
                <a:cs typeface="Times New Roman" panose="02020603050405020304" pitchFamily="18" charset="0"/>
              </a:rPr>
              <a:t>WiFi</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Choose ESP8266 to control the labelling process. </a:t>
            </a:r>
          </a:p>
          <a:p>
            <a:pPr marL="0" indent="0">
              <a:buNone/>
            </a:pPr>
            <a:r>
              <a:rPr lang="en-US" sz="2400" dirty="0">
                <a:latin typeface="Times New Roman" panose="02020603050405020304" pitchFamily="18" charset="0"/>
                <a:cs typeface="Times New Roman" panose="02020603050405020304" pitchFamily="18" charset="0"/>
              </a:rPr>
              <a:t>The ESP32 has sufficient number of pins to do all the tasks. However, when running multiple tasks like </a:t>
            </a:r>
            <a:r>
              <a:rPr lang="en-US" sz="2400" dirty="0" err="1">
                <a:latin typeface="Times New Roman" panose="02020603050405020304" pitchFamily="18" charset="0"/>
                <a:cs typeface="Times New Roman" panose="02020603050405020304" pitchFamily="18" charset="0"/>
              </a:rPr>
              <a:t>Wifi</a:t>
            </a:r>
            <a:r>
              <a:rPr lang="en-US" sz="2400" dirty="0">
                <a:latin typeface="Times New Roman" panose="02020603050405020304" pitchFamily="18" charset="0"/>
                <a:cs typeface="Times New Roman" panose="02020603050405020304" pitchFamily="18" charset="0"/>
              </a:rPr>
              <a:t> connection, SPI protocol, I2C protocol, the read value on ADC pin of ESP32 is not accurate. Therefore, 1 ESP8266 is added to the project to prevent the ADC incorrect read. The two MCUs communicate via UART protocol.</a:t>
            </a:r>
          </a:p>
          <a:p>
            <a:pPr marL="0" indent="0">
              <a:buFont typeface="Arial" panose="020B0604020202020204" pitchFamily="34" charset="0"/>
              <a:buNone/>
            </a:pPr>
            <a:endParaRPr lang="en-US" sz="2400"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19112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4. Electrical design</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4.1 Microcontroller</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2">
            <a:extLst>
              <a:ext uri="{FF2B5EF4-FFF2-40B4-BE49-F238E27FC236}">
                <a16:creationId xmlns:a16="http://schemas.microsoft.com/office/drawing/2014/main" id="{D821428C-8474-4B52-83CB-5798EDE49B16}"/>
              </a:ext>
            </a:extLst>
          </p:cNvPr>
          <p:cNvSpPr>
            <a:spLocks noChangeArrowheads="1"/>
          </p:cNvSpPr>
          <p:nvPr/>
        </p:nvSpPr>
        <p:spPr bwMode="auto">
          <a:xfrm>
            <a:off x="3833090" y="166401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44">
            <a:extLst>
              <a:ext uri="{FF2B5EF4-FFF2-40B4-BE49-F238E27FC236}">
                <a16:creationId xmlns:a16="http://schemas.microsoft.com/office/drawing/2014/main" id="{C3B55294-3171-48A6-B151-BA00069721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8374" y="1664016"/>
            <a:ext cx="5415252" cy="365425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C623CAD6-37E3-48B8-902E-9B34FBB8AD39}"/>
              </a:ext>
            </a:extLst>
          </p:cNvPr>
          <p:cNvSpPr>
            <a:spLocks noChangeArrowheads="1"/>
          </p:cNvSpPr>
          <p:nvPr/>
        </p:nvSpPr>
        <p:spPr bwMode="auto">
          <a:xfrm>
            <a:off x="4579077" y="5441608"/>
            <a:ext cx="303384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bmk="_Toc120006659">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ESP32 DOIT dev kit V1 pinout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46295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4. Electrical design</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4.1 Microcontroller</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2">
            <a:extLst>
              <a:ext uri="{FF2B5EF4-FFF2-40B4-BE49-F238E27FC236}">
                <a16:creationId xmlns:a16="http://schemas.microsoft.com/office/drawing/2014/main" id="{D821428C-8474-4B52-83CB-5798EDE49B16}"/>
              </a:ext>
            </a:extLst>
          </p:cNvPr>
          <p:cNvSpPr>
            <a:spLocks noChangeArrowheads="1"/>
          </p:cNvSpPr>
          <p:nvPr/>
        </p:nvSpPr>
        <p:spPr bwMode="auto">
          <a:xfrm>
            <a:off x="3833090" y="166401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a:extLst>
              <a:ext uri="{FF2B5EF4-FFF2-40B4-BE49-F238E27FC236}">
                <a16:creationId xmlns:a16="http://schemas.microsoft.com/office/drawing/2014/main" id="{C623CAD6-37E3-48B8-902E-9B34FBB8AD39}"/>
              </a:ext>
            </a:extLst>
          </p:cNvPr>
          <p:cNvSpPr>
            <a:spLocks noChangeArrowheads="1"/>
          </p:cNvSpPr>
          <p:nvPr/>
        </p:nvSpPr>
        <p:spPr bwMode="auto">
          <a:xfrm>
            <a:off x="4721264" y="5400346"/>
            <a:ext cx="274947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bmk="_Toc120006659">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ESP8266 </a:t>
            </a:r>
            <a:r>
              <a:rPr kumimoji="0" lang="en-US" altLang="en-US" b="0" i="1" u="none" strike="noStrike" cap="none" normalizeH="0" baseline="0" dirty="0" err="1" bmk="_Toc120006659">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NodeMCU</a:t>
            </a:r>
            <a:r>
              <a:rPr kumimoji="0" lang="en-US" altLang="en-US" b="0" i="1" u="none" strike="noStrike" cap="none" normalizeH="0" baseline="0" dirty="0" bmk="_Toc120006659">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pinout</a:t>
            </a:r>
            <a:endPar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8C9DD471-EFA6-4276-82F2-6656EF5E426A}"/>
              </a:ext>
            </a:extLst>
          </p:cNvPr>
          <p:cNvPicPr/>
          <p:nvPr/>
        </p:nvPicPr>
        <p:blipFill>
          <a:blip r:embed="rId2"/>
          <a:stretch>
            <a:fillRect/>
          </a:stretch>
        </p:blipFill>
        <p:spPr>
          <a:xfrm>
            <a:off x="3400425" y="1794126"/>
            <a:ext cx="5391150" cy="3446120"/>
          </a:xfrm>
          <a:prstGeom prst="rect">
            <a:avLst/>
          </a:prstGeom>
        </p:spPr>
      </p:pic>
    </p:spTree>
    <p:extLst>
      <p:ext uri="{BB962C8B-B14F-4D97-AF65-F5344CB8AC3E}">
        <p14:creationId xmlns:p14="http://schemas.microsoft.com/office/powerpoint/2010/main" val="27028329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4. Electrical design</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4.2 Labelling sensor</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B829A88E-78B4-4B03-864D-1610EFAAB182}"/>
              </a:ext>
            </a:extLst>
          </p:cNvPr>
          <p:cNvSpPr txBox="1">
            <a:spLocks/>
          </p:cNvSpPr>
          <p:nvPr/>
        </p:nvSpPr>
        <p:spPr>
          <a:xfrm>
            <a:off x="838199" y="1687063"/>
            <a:ext cx="11084859" cy="11394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Times New Roman" panose="02020603050405020304" pitchFamily="18" charset="0"/>
                <a:cs typeface="Times New Roman" panose="02020603050405020304" pitchFamily="18" charset="0"/>
              </a:rPr>
              <a:t>The fabricated sensor use a photodiode and an infrared light emitting diode face to each other, and the tag is placed between them. Depend on the feedback voltage value, we can determine the gap between the two consecutive tags. </a:t>
            </a:r>
          </a:p>
          <a:p>
            <a:pPr marL="0" indent="0">
              <a:buFont typeface="Arial" panose="020B0604020202020204" pitchFamily="34" charset="0"/>
              <a:buNone/>
            </a:pPr>
            <a:endParaRPr lang="en-US" sz="2400"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2">
            <a:extLst>
              <a:ext uri="{FF2B5EF4-FFF2-40B4-BE49-F238E27FC236}">
                <a16:creationId xmlns:a16="http://schemas.microsoft.com/office/drawing/2014/main" id="{BCD901D1-2AAC-4AC3-BE25-30CDAEA3EE7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049" name="Picture 47">
            <a:extLst>
              <a:ext uri="{FF2B5EF4-FFF2-40B4-BE49-F238E27FC236}">
                <a16:creationId xmlns:a16="http://schemas.microsoft.com/office/drawing/2014/main" id="{02433BB2-B76E-41E4-B8D8-775806B65E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0335" y="2770374"/>
            <a:ext cx="3991325" cy="32430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5D703FB9-C2B0-42A9-BF1C-5F1B2F863C3F}"/>
              </a:ext>
            </a:extLst>
          </p:cNvPr>
          <p:cNvSpPr>
            <a:spLocks noChangeArrowheads="1"/>
          </p:cNvSpPr>
          <p:nvPr/>
        </p:nvSpPr>
        <p:spPr bwMode="auto">
          <a:xfrm>
            <a:off x="4378220" y="5945466"/>
            <a:ext cx="343555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bmk="_Toc12000666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Labelling sensor working principle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32973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4. Electrical design</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4.2 Labelling sensor</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B829A88E-78B4-4B03-864D-1610EFAAB182}"/>
              </a:ext>
            </a:extLst>
          </p:cNvPr>
          <p:cNvSpPr txBox="1">
            <a:spLocks/>
          </p:cNvSpPr>
          <p:nvPr/>
        </p:nvSpPr>
        <p:spPr>
          <a:xfrm>
            <a:off x="838199" y="1687062"/>
            <a:ext cx="11084859" cy="43526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The feedback voltage is from V_(in min)=600mV to V_(in max)=1600mV when I do experiment. Therefore, I decided to amplify this voltage using a subtractor and non – inverting amplifier OPAMP configuration as show below:</a:t>
            </a:r>
          </a:p>
          <a:p>
            <a:pPr marL="0" indent="0">
              <a:buFont typeface="Arial" panose="020B0604020202020204" pitchFamily="34" charset="0"/>
              <a:buNone/>
            </a:pPr>
            <a:endParaRPr lang="en-US" sz="2400"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102A51C-52B4-4BDE-BEC2-71F5D7F3A354}"/>
              </a:ext>
            </a:extLst>
          </p:cNvPr>
          <p:cNvPicPr/>
          <p:nvPr/>
        </p:nvPicPr>
        <p:blipFill>
          <a:blip r:embed="rId2"/>
          <a:stretch>
            <a:fillRect/>
          </a:stretch>
        </p:blipFill>
        <p:spPr>
          <a:xfrm>
            <a:off x="2860160" y="2730212"/>
            <a:ext cx="6471679" cy="2991447"/>
          </a:xfrm>
          <a:prstGeom prst="rect">
            <a:avLst/>
          </a:prstGeom>
        </p:spPr>
      </p:pic>
      <p:sp>
        <p:nvSpPr>
          <p:cNvPr id="13" name="TextBox 12">
            <a:extLst>
              <a:ext uri="{FF2B5EF4-FFF2-40B4-BE49-F238E27FC236}">
                <a16:creationId xmlns:a16="http://schemas.microsoft.com/office/drawing/2014/main" id="{3287C12E-C8A0-4049-A037-0F3F6954104D}"/>
              </a:ext>
            </a:extLst>
          </p:cNvPr>
          <p:cNvSpPr txBox="1"/>
          <p:nvPr/>
        </p:nvSpPr>
        <p:spPr>
          <a:xfrm>
            <a:off x="3046070" y="5695998"/>
            <a:ext cx="6099858" cy="369332"/>
          </a:xfrm>
          <a:prstGeom prst="rect">
            <a:avLst/>
          </a:prstGeom>
          <a:noFill/>
        </p:spPr>
        <p:txBody>
          <a:bodyPr wrap="square">
            <a:spAutoFit/>
          </a:bodyPr>
          <a:lstStyle/>
          <a:p>
            <a:pPr algn="ctr">
              <a:spcAft>
                <a:spcPts val="1000"/>
              </a:spcAft>
            </a:pPr>
            <a:r>
              <a:rPr lang="en-US" sz="1800" i="1" dirty="0">
                <a:effectLst/>
                <a:latin typeface="Times New Roman" panose="02020603050405020304" pitchFamily="18" charset="0"/>
                <a:ea typeface="Calibri" panose="020F0502020204030204" pitchFamily="34" charset="0"/>
                <a:cs typeface="Times New Roman" panose="02020603050405020304" pitchFamily="18" charset="0"/>
              </a:rPr>
              <a:t>Subtractor and amplifier circuit for labelling sensor</a:t>
            </a:r>
          </a:p>
        </p:txBody>
      </p:sp>
    </p:spTree>
    <p:extLst>
      <p:ext uri="{BB962C8B-B14F-4D97-AF65-F5344CB8AC3E}">
        <p14:creationId xmlns:p14="http://schemas.microsoft.com/office/powerpoint/2010/main" val="27690064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4. Electrical design</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4.2 Labelling sensor</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B829A88E-78B4-4B03-864D-1610EFAAB182}"/>
                  </a:ext>
                </a:extLst>
              </p:cNvPr>
              <p:cNvSpPr txBox="1">
                <a:spLocks/>
              </p:cNvSpPr>
              <p:nvPr/>
            </p:nvSpPr>
            <p:spPr>
              <a:xfrm>
                <a:off x="838199" y="1687061"/>
                <a:ext cx="11084859" cy="463657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7000"/>
                  </a:lnSpc>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 equation for the above circuit:</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𝑜𝑢𝑡</m:t>
                          </m:r>
                        </m:sub>
                      </m:s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f>
                            <m:f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6</m:t>
                                  </m:r>
                                </m:sub>
                              </m:sSub>
                            </m:num>
                            <m:den>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5</m:t>
                                  </m:r>
                                </m:sub>
                              </m:sSub>
                            </m:den>
                          </m:f>
                        </m:e>
                      </m:d>
                      <m:d>
                        <m:dPr>
                          <m:begChr m:val="["/>
                          <m:endChr m:val="]"/>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dPr>
                        <m:e>
                          <m:d>
                            <m:d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4</m:t>
                                      </m:r>
                                    </m:sub>
                                  </m:sSub>
                                </m:num>
                                <m:den>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4</m:t>
                                      </m:r>
                                    </m:sub>
                                  </m:sSub>
                                </m:den>
                              </m:f>
                            </m:e>
                          </m:d>
                          <m:d>
                            <m:d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m:t>
                                      </m:r>
                                    </m:sub>
                                  </m:sSub>
                                </m:num>
                                <m:den>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sub>
                                  </m:sSub>
                                </m:den>
                              </m:f>
                            </m:e>
                          </m:d>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𝑖𝑛</m:t>
                              </m:r>
                            </m:sub>
                          </m:s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m:t>
                                      </m:r>
                                    </m:sub>
                                  </m:sSub>
                                </m:num>
                                <m:den>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sub>
                                  </m:sSub>
                                </m:den>
                              </m:f>
                            </m:e>
                          </m:d>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𝑐𝑐</m:t>
                              </m:r>
                            </m:sub>
                          </m:sSub>
                        </m:e>
                      </m:d>
                    </m:oMath>
                  </m:oMathPara>
                </a14:m>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Choose </a:t>
                </a:r>
                <a14:m>
                  <m:oMath xmlns:m="http://schemas.openxmlformats.org/officeDocument/2006/math">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sub>
                    </m:sSub>
                  </m:oMath>
                </a14:m>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m:t>
                        </m:r>
                      </m:sub>
                    </m:sSub>
                  </m:oMath>
                </a14:m>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equation becomes:</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14:m>
                  <m:oMathPara xmlns:m="http://schemas.openxmlformats.org/officeDocument/2006/math">
                    <m:oMathParaPr>
                      <m:jc m:val="centerGroup"/>
                    </m:oMathParaPr>
                    <m:oMath xmlns:m="http://schemas.openxmlformats.org/officeDocument/2006/math">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𝑜𝑢𝑡</m:t>
                          </m:r>
                        </m:sub>
                      </m:s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f>
                            <m:f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6</m:t>
                                  </m:r>
                                </m:sub>
                              </m:sSub>
                            </m:num>
                            <m:den>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5</m:t>
                                  </m:r>
                                </m:sub>
                              </m:sSub>
                            </m:den>
                          </m:f>
                        </m:e>
                      </m:d>
                      <m:d>
                        <m:dPr>
                          <m:begChr m:val="["/>
                          <m:endChr m:val="]"/>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𝑖𝑛</m:t>
                              </m:r>
                            </m:sub>
                          </m:s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m:t>
                                      </m:r>
                                    </m:sub>
                                  </m:sSub>
                                </m:num>
                                <m:den>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sub>
                                  </m:sSub>
                                </m:den>
                              </m:f>
                            </m:e>
                          </m:d>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𝑐𝑐</m:t>
                              </m:r>
                            </m:sub>
                          </m:sSub>
                        </m:e>
                      </m:d>
                    </m:oMath>
                  </m:oMathPara>
                </a14:m>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Font typeface="Arial" panose="020B0604020202020204" pitchFamily="34" charset="0"/>
                  <a:buNone/>
                </a:pPr>
                <a:endParaRPr lang="en-US" sz="2400" dirty="0">
                  <a:latin typeface="Times New Roman" panose="02020603050405020304" pitchFamily="18" charset="0"/>
                  <a:cs typeface="Times New Roman" panose="02020603050405020304" pitchFamily="18" charset="0"/>
                </a:endParaRPr>
              </a:p>
            </p:txBody>
          </p:sp>
        </mc:Choice>
        <mc:Fallback xmlns="">
          <p:sp>
            <p:nvSpPr>
              <p:cNvPr id="8" name="Content Placeholder 2">
                <a:extLst>
                  <a:ext uri="{FF2B5EF4-FFF2-40B4-BE49-F238E27FC236}">
                    <a16:creationId xmlns:a16="http://schemas.microsoft.com/office/drawing/2014/main" id="{B829A88E-78B4-4B03-864D-1610EFAAB182}"/>
                  </a:ext>
                </a:extLst>
              </p:cNvPr>
              <p:cNvSpPr txBox="1">
                <a:spLocks noRot="1" noChangeAspect="1" noMove="1" noResize="1" noEditPoints="1" noAdjustHandles="1" noChangeArrowheads="1" noChangeShapeType="1" noTextEdit="1"/>
              </p:cNvSpPr>
              <p:nvPr/>
            </p:nvSpPr>
            <p:spPr>
              <a:xfrm>
                <a:off x="838199" y="1687061"/>
                <a:ext cx="11084859" cy="4636573"/>
              </a:xfrm>
              <a:prstGeom prst="rect">
                <a:avLst/>
              </a:prstGeom>
              <a:blipFill>
                <a:blip r:embed="rId2"/>
                <a:stretch>
                  <a:fillRect l="-825" t="-1053"/>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65598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4. Electrical design</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4.2 Labelling sensor</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B829A88E-78B4-4B03-864D-1610EFAAB182}"/>
                  </a:ext>
                </a:extLst>
              </p:cNvPr>
              <p:cNvSpPr txBox="1">
                <a:spLocks/>
              </p:cNvSpPr>
              <p:nvPr/>
            </p:nvSpPr>
            <p:spPr>
              <a:xfrm>
                <a:off x="838199" y="1687061"/>
                <a:ext cx="11084859" cy="463657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7000"/>
                  </a:lnSpc>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We have:</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14:m>
                  <m:oMathPara xmlns:m="http://schemas.openxmlformats.org/officeDocument/2006/math">
                    <m:oMathParaPr>
                      <m:jc m:val="centerGroup"/>
                    </m:oMathParaPr>
                    <m:oMath xmlns:m="http://schemas.openxmlformats.org/officeDocument/2006/math">
                      <m:d>
                        <m:dPr>
                          <m:begChr m:val="{"/>
                          <m:endChr m:val=""/>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US" sz="2400" i="1" smtClean="0">
                                  <a:effectLst/>
                                  <a:latin typeface="Cambria Math" panose="02040503050406030204" pitchFamily="18" charset="0"/>
                                  <a:cs typeface="Times New Roman" panose="02020603050405020304" pitchFamily="18" charset="0"/>
                                </a:rPr>
                              </m:ctrlPr>
                            </m:mPr>
                            <m:mr>
                              <m:e>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𝑜𝑢𝑡</m:t>
                                    </m:r>
                                    <m:r>
                                      <a:rPr lang="en-US" sz="2400" i="1">
                                        <a:latin typeface="Cambria Math" panose="02040503050406030204" pitchFamily="18" charset="0"/>
                                      </a:rPr>
                                      <m:t> </m:t>
                                    </m:r>
                                    <m:r>
                                      <a:rPr lang="en-US" sz="2400" i="1">
                                        <a:latin typeface="Cambria Math" panose="02040503050406030204" pitchFamily="18" charset="0"/>
                                      </a:rPr>
                                      <m:t>𝑚𝑎𝑥</m:t>
                                    </m:r>
                                  </m:sub>
                                </m:sSub>
                                <m:r>
                                  <a:rPr lang="en-US" sz="2400" i="1">
                                    <a:latin typeface="Cambria Math" panose="02040503050406030204" pitchFamily="18" charset="0"/>
                                  </a:rPr>
                                  <m:t>=3000</m:t>
                                </m:r>
                                <m:r>
                                  <a:rPr lang="en-US" sz="2400" i="1">
                                    <a:latin typeface="Cambria Math" panose="02040503050406030204" pitchFamily="18" charset="0"/>
                                  </a:rPr>
                                  <m:t>𝑚𝑉</m:t>
                                </m:r>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𝑜𝑢𝑡</m:t>
                                    </m:r>
                                    <m:r>
                                      <a:rPr lang="en-US" sz="2400" i="1">
                                        <a:latin typeface="Cambria Math" panose="02040503050406030204" pitchFamily="18" charset="0"/>
                                      </a:rPr>
                                      <m:t> </m:t>
                                    </m:r>
                                    <m:r>
                                      <a:rPr lang="en-US" sz="2400" i="1">
                                        <a:latin typeface="Cambria Math" panose="02040503050406030204" pitchFamily="18" charset="0"/>
                                      </a:rPr>
                                      <m:t>𝑚𝑖𝑛</m:t>
                                    </m:r>
                                  </m:sub>
                                </m:sSub>
                                <m:r>
                                  <a:rPr lang="en-US" sz="2400" i="1">
                                    <a:latin typeface="Cambria Math" panose="02040503050406030204" pitchFamily="18" charset="0"/>
                                  </a:rPr>
                                  <m:t>=300</m:t>
                                </m:r>
                                <m:r>
                                  <a:rPr lang="en-US" sz="2400" i="1">
                                    <a:latin typeface="Cambria Math" panose="02040503050406030204" pitchFamily="18" charset="0"/>
                                  </a:rPr>
                                  <m:t>𝑚𝑉</m:t>
                                </m:r>
                              </m:e>
                            </m:mr>
                            <m:mr>
                              <m:e>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𝑖𝑛</m:t>
                                    </m:r>
                                    <m:r>
                                      <a:rPr lang="en-US" sz="2400" i="1">
                                        <a:latin typeface="Cambria Math" panose="02040503050406030204" pitchFamily="18" charset="0"/>
                                      </a:rPr>
                                      <m:t> </m:t>
                                    </m:r>
                                    <m:r>
                                      <a:rPr lang="en-US" sz="2400" i="1">
                                        <a:latin typeface="Cambria Math" panose="02040503050406030204" pitchFamily="18" charset="0"/>
                                      </a:rPr>
                                      <m:t>𝑚𝑎𝑥</m:t>
                                    </m:r>
                                  </m:sub>
                                </m:sSub>
                                <m:r>
                                  <a:rPr lang="en-US" sz="2400" i="1">
                                    <a:latin typeface="Cambria Math" panose="02040503050406030204" pitchFamily="18" charset="0"/>
                                  </a:rPr>
                                  <m:t>=1600</m:t>
                                </m:r>
                                <m:r>
                                  <a:rPr lang="en-US" sz="2400" i="1">
                                    <a:latin typeface="Cambria Math" panose="02040503050406030204" pitchFamily="18" charset="0"/>
                                  </a:rPr>
                                  <m:t>𝑚𝑉</m:t>
                                </m:r>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𝑖𝑛</m:t>
                                    </m:r>
                                    <m:r>
                                      <a:rPr lang="en-US" sz="2400" i="1">
                                        <a:latin typeface="Cambria Math" panose="02040503050406030204" pitchFamily="18" charset="0"/>
                                      </a:rPr>
                                      <m:t> </m:t>
                                    </m:r>
                                    <m:r>
                                      <a:rPr lang="en-US" sz="2400" i="1">
                                        <a:latin typeface="Cambria Math" panose="02040503050406030204" pitchFamily="18" charset="0"/>
                                      </a:rPr>
                                      <m:t>𝑚𝑖𝑛</m:t>
                                    </m:r>
                                  </m:sub>
                                </m:sSub>
                                <m:r>
                                  <a:rPr lang="en-US" sz="2400" i="1">
                                    <a:latin typeface="Cambria Math" panose="02040503050406030204" pitchFamily="18" charset="0"/>
                                  </a:rPr>
                                  <m:t>=600</m:t>
                                </m:r>
                                <m:r>
                                  <a:rPr lang="en-US" sz="2400" i="1">
                                    <a:latin typeface="Cambria Math" panose="02040503050406030204" pitchFamily="18" charset="0"/>
                                  </a:rPr>
                                  <m:t>𝑚𝑉</m:t>
                                </m:r>
                              </m:e>
                            </m:mr>
                            <m:mr>
                              <m:e>
                                <m:sSub>
                                  <m:sSubPr>
                                    <m:ctrlPr>
                                      <a:rPr lang="en-US" sz="2400" i="1">
                                        <a:latin typeface="Cambria Math" panose="02040503050406030204" pitchFamily="18" charset="0"/>
                                      </a:rPr>
                                    </m:ctrlPr>
                                  </m:sSubPr>
                                  <m:e>
                                    <m:r>
                                      <a:rPr lang="en-US" sz="2400" i="1">
                                        <a:latin typeface="Cambria Math" panose="02040503050406030204" pitchFamily="18" charset="0"/>
                                      </a:rPr>
                                      <m:t>𝑉</m:t>
                                    </m:r>
                                  </m:e>
                                  <m:sub>
                                    <m:r>
                                      <a:rPr lang="en-US" sz="2400" i="1">
                                        <a:latin typeface="Cambria Math" panose="02040503050406030204" pitchFamily="18" charset="0"/>
                                      </a:rPr>
                                      <m:t>𝑐𝑐</m:t>
                                    </m:r>
                                  </m:sub>
                                </m:sSub>
                                <m:r>
                                  <a:rPr lang="en-US" sz="2400" i="1">
                                    <a:latin typeface="Cambria Math" panose="02040503050406030204" pitchFamily="18" charset="0"/>
                                  </a:rPr>
                                  <m:t>=5000</m:t>
                                </m:r>
                                <m:r>
                                  <a:rPr lang="en-US" sz="2400" i="1">
                                    <a:latin typeface="Cambria Math" panose="02040503050406030204" pitchFamily="18" charset="0"/>
                                  </a:rPr>
                                  <m:t>𝑚𝑉</m:t>
                                </m:r>
                              </m:e>
                            </m:mr>
                          </m:m>
                        </m:e>
                      </m:d>
                    </m:oMath>
                  </m:oMathPara>
                </a14:m>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Substitute to the above equations:</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14:m>
                  <m:oMathPara xmlns:m="http://schemas.openxmlformats.org/officeDocument/2006/math">
                    <m:oMathParaPr>
                      <m:jc m:val="centerGroup"/>
                    </m:oMathParaPr>
                    <m:oMath xmlns:m="http://schemas.openxmlformats.org/officeDocument/2006/math">
                      <m:d>
                        <m:dPr>
                          <m:begChr m:val="{"/>
                          <m:endChr m:val=""/>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dPr>
                        <m:e>
                          <m:eqArr>
                            <m:eqArr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eqArrPr>
                            <m:e>
                              <m:d>
                                <m:d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f>
                                    <m:f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6</m:t>
                                          </m:r>
                                        </m:sub>
                                      </m:sSub>
                                    </m:num>
                                    <m:den>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5</m:t>
                                          </m:r>
                                        </m:sub>
                                      </m:sSub>
                                    </m:den>
                                  </m:f>
                                </m:e>
                              </m:d>
                              <m:d>
                                <m:dPr>
                                  <m:begChr m:val="["/>
                                  <m:endChr m:val="]"/>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1600−5000</m:t>
                                  </m:r>
                                  <m:d>
                                    <m:d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m:t>
                                              </m:r>
                                            </m:sub>
                                          </m:sSub>
                                        </m:num>
                                        <m:den>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sub>
                                          </m:sSub>
                                        </m:den>
                                      </m:f>
                                    </m:e>
                                  </m:d>
                                </m:e>
                              </m:d>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=3000</m:t>
                              </m:r>
                            </m:e>
                            <m:e>
                              <m:d>
                                <m:d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f>
                                    <m:f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6</m:t>
                                          </m:r>
                                        </m:sub>
                                      </m:sSub>
                                    </m:num>
                                    <m:den>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5</m:t>
                                          </m:r>
                                        </m:sub>
                                      </m:sSub>
                                    </m:den>
                                  </m:f>
                                </m:e>
                              </m:d>
                              <m:d>
                                <m:dPr>
                                  <m:begChr m:val="["/>
                                  <m:endChr m:val="]"/>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600−5000</m:t>
                                  </m:r>
                                  <m:d>
                                    <m:d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m:t>
                                              </m:r>
                                            </m:sub>
                                          </m:sSub>
                                        </m:num>
                                        <m:den>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sub>
                                          </m:sSub>
                                        </m:den>
                                      </m:f>
                                    </m:e>
                                  </m:d>
                                </m:e>
                              </m:d>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=300</m:t>
                              </m:r>
                            </m:e>
                          </m:eqArr>
                        </m:e>
                      </m:d>
                    </m:oMath>
                  </m:oMathPara>
                </a14:m>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Font typeface="Arial" panose="020B0604020202020204" pitchFamily="34" charset="0"/>
                  <a:buNone/>
                </a:pPr>
                <a:endParaRPr lang="en-US" sz="2400" dirty="0">
                  <a:latin typeface="Times New Roman" panose="02020603050405020304" pitchFamily="18" charset="0"/>
                  <a:cs typeface="Times New Roman" panose="02020603050405020304" pitchFamily="18" charset="0"/>
                </a:endParaRPr>
              </a:p>
            </p:txBody>
          </p:sp>
        </mc:Choice>
        <mc:Fallback xmlns="">
          <p:sp>
            <p:nvSpPr>
              <p:cNvPr id="8" name="Content Placeholder 2">
                <a:extLst>
                  <a:ext uri="{FF2B5EF4-FFF2-40B4-BE49-F238E27FC236}">
                    <a16:creationId xmlns:a16="http://schemas.microsoft.com/office/drawing/2014/main" id="{B829A88E-78B4-4B03-864D-1610EFAAB182}"/>
                  </a:ext>
                </a:extLst>
              </p:cNvPr>
              <p:cNvSpPr txBox="1">
                <a:spLocks noRot="1" noChangeAspect="1" noMove="1" noResize="1" noEditPoints="1" noAdjustHandles="1" noChangeArrowheads="1" noChangeShapeType="1" noTextEdit="1"/>
              </p:cNvSpPr>
              <p:nvPr/>
            </p:nvSpPr>
            <p:spPr>
              <a:xfrm>
                <a:off x="838199" y="1687061"/>
                <a:ext cx="11084859" cy="4636573"/>
              </a:xfrm>
              <a:prstGeom prst="rect">
                <a:avLst/>
              </a:prstGeom>
              <a:blipFill>
                <a:blip r:embed="rId2"/>
                <a:stretch>
                  <a:fillRect l="-825" t="-1053"/>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69455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4. Electrical design</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4.2 Labelling sensor</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B829A88E-78B4-4B03-864D-1610EFAAB182}"/>
                  </a:ext>
                </a:extLst>
              </p:cNvPr>
              <p:cNvSpPr txBox="1">
                <a:spLocks/>
              </p:cNvSpPr>
              <p:nvPr/>
            </p:nvSpPr>
            <p:spPr>
              <a:xfrm>
                <a:off x="838199" y="1687061"/>
                <a:ext cx="11084859" cy="463657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7000"/>
                  </a:lnSpc>
                  <a:spcAft>
                    <a:spcPts val="800"/>
                  </a:spcAft>
                  <a:buNone/>
                </a:pPr>
                <a14:m>
                  <m:oMathPara xmlns:m="http://schemas.openxmlformats.org/officeDocument/2006/math">
                    <m:oMathParaPr>
                      <m:jc m:val="centerGroup"/>
                    </m:oMathParaPr>
                    <m:oMath xmlns:m="http://schemas.openxmlformats.org/officeDocument/2006/math">
                      <m:r>
                        <a:rPr lang="en-US" sz="2400" i="1" smtClean="0">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dPr>
                        <m:e>
                          <m:eqArr>
                            <m:eqArr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eqArrPr>
                            <m:e>
                              <m:f>
                                <m:f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6</m:t>
                                      </m:r>
                                    </m:sub>
                                  </m:sSub>
                                </m:num>
                                <m:den>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5</m:t>
                                      </m:r>
                                    </m:sub>
                                  </m:sSub>
                                </m:den>
                              </m:f>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=1.7</m:t>
                              </m:r>
                            </m:e>
                            <m:e>
                              <m:f>
                                <m:f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m:t>
                                      </m:r>
                                    </m:sub>
                                  </m:sSub>
                                </m:num>
                                <m:den>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sub>
                                  </m:sSub>
                                </m:den>
                              </m:f>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=0.1</m:t>
                              </m:r>
                            </m:e>
                          </m:eqArr>
                        </m:e>
                      </m:d>
                    </m:oMath>
                  </m:oMathPara>
                </a14:m>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Choose </a:t>
                </a:r>
                <a14:m>
                  <m:oMath xmlns:m="http://schemas.openxmlformats.org/officeDocument/2006/math">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6</m:t>
                        </m:r>
                      </m:sub>
                    </m:s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=3.6</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𝛺</m:t>
                    </m:r>
                  </m:oMath>
                </a14:m>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5</m:t>
                        </m:r>
                      </m:sub>
                    </m:s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𝑘</m:t>
                    </m:r>
                  </m:oMath>
                </a14:m>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𝛺</m:t>
                    </m:r>
                  </m:oMath>
                </a14:m>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4</m:t>
                        </m:r>
                      </m:sub>
                    </m:s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=10</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𝛺</m:t>
                    </m:r>
                  </m:oMath>
                </a14:m>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Font typeface="Arial" panose="020B0604020202020204" pitchFamily="34" charset="0"/>
                  <a:buNone/>
                </a:pPr>
                <a:endParaRPr lang="en-US" sz="2400" dirty="0">
                  <a:latin typeface="Times New Roman" panose="02020603050405020304" pitchFamily="18" charset="0"/>
                  <a:cs typeface="Times New Roman" panose="02020603050405020304" pitchFamily="18" charset="0"/>
                </a:endParaRPr>
              </a:p>
            </p:txBody>
          </p:sp>
        </mc:Choice>
        <mc:Fallback xmlns="">
          <p:sp>
            <p:nvSpPr>
              <p:cNvPr id="8" name="Content Placeholder 2">
                <a:extLst>
                  <a:ext uri="{FF2B5EF4-FFF2-40B4-BE49-F238E27FC236}">
                    <a16:creationId xmlns:a16="http://schemas.microsoft.com/office/drawing/2014/main" id="{B829A88E-78B4-4B03-864D-1610EFAAB182}"/>
                  </a:ext>
                </a:extLst>
              </p:cNvPr>
              <p:cNvSpPr txBox="1">
                <a:spLocks noRot="1" noChangeAspect="1" noMove="1" noResize="1" noEditPoints="1" noAdjustHandles="1" noChangeArrowheads="1" noChangeShapeType="1" noTextEdit="1"/>
              </p:cNvSpPr>
              <p:nvPr/>
            </p:nvSpPr>
            <p:spPr>
              <a:xfrm>
                <a:off x="838199" y="1687061"/>
                <a:ext cx="11084859" cy="4636573"/>
              </a:xfrm>
              <a:prstGeom prst="rect">
                <a:avLst/>
              </a:prstGeom>
              <a:blipFill>
                <a:blip r:embed="rId2"/>
                <a:stretch>
                  <a:fillRect l="-825"/>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90465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4. Electrical design</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4.2 Labelling sensor</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2">
            <a:extLst>
              <a:ext uri="{FF2B5EF4-FFF2-40B4-BE49-F238E27FC236}">
                <a16:creationId xmlns:a16="http://schemas.microsoft.com/office/drawing/2014/main" id="{B1BBCDCC-EB47-464C-88B9-1F19ABF926F5}"/>
              </a:ext>
            </a:extLst>
          </p:cNvPr>
          <p:cNvSpPr>
            <a:spLocks noChangeArrowheads="1"/>
          </p:cNvSpPr>
          <p:nvPr/>
        </p:nvSpPr>
        <p:spPr bwMode="auto">
          <a:xfrm>
            <a:off x="2877053" y="191409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097" name="Picture 53">
            <a:extLst>
              <a:ext uri="{FF2B5EF4-FFF2-40B4-BE49-F238E27FC236}">
                <a16:creationId xmlns:a16="http://schemas.microsoft.com/office/drawing/2014/main" id="{82958C78-AA91-4056-BEB0-687D065A50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874" y="2135183"/>
            <a:ext cx="6543073" cy="390448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41B20D91-538D-4818-8D4A-E029A738004E}"/>
              </a:ext>
            </a:extLst>
          </p:cNvPr>
          <p:cNvSpPr>
            <a:spLocks noChangeArrowheads="1"/>
          </p:cNvSpPr>
          <p:nvPr/>
        </p:nvSpPr>
        <p:spPr bwMode="auto">
          <a:xfrm>
            <a:off x="4745050" y="6039671"/>
            <a:ext cx="270189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i="1" dirty="0" bmk="_Toc120006665">
                <a:latin typeface="Times New Roman" panose="02020603050405020304" pitchFamily="18" charset="0"/>
                <a:ea typeface="Calibri" panose="020F0502020204030204" pitchFamily="34" charset="0"/>
                <a:cs typeface="Times New Roman" panose="02020603050405020304" pitchFamily="18" charset="0"/>
              </a:rPr>
              <a:t>S</a:t>
            </a:r>
            <a:r>
              <a:rPr kumimoji="0" lang="en-US" altLang="en-US" b="0" i="1" u="none" strike="noStrike" cap="none" normalizeH="0" baseline="0" dirty="0" bmk="_Toc120006665">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imulation with Vin = 0.6V</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2">
            <a:extLst>
              <a:ext uri="{FF2B5EF4-FFF2-40B4-BE49-F238E27FC236}">
                <a16:creationId xmlns:a16="http://schemas.microsoft.com/office/drawing/2014/main" id="{92410987-A9A8-449C-A7B5-90CE7A3C2363}"/>
              </a:ext>
            </a:extLst>
          </p:cNvPr>
          <p:cNvSpPr txBox="1">
            <a:spLocks/>
          </p:cNvSpPr>
          <p:nvPr/>
        </p:nvSpPr>
        <p:spPr>
          <a:xfrm>
            <a:off x="838201" y="1737737"/>
            <a:ext cx="10515599" cy="41407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Simulation result using Proteus software:</a:t>
            </a:r>
          </a:p>
          <a:p>
            <a:pPr marL="0" indent="0">
              <a:buFont typeface="Arial" panose="020B0604020202020204" pitchFamily="34" charset="0"/>
              <a:buNone/>
            </a:pPr>
            <a:endParaRPr lang="en-US" sz="2400" dirty="0"/>
          </a:p>
        </p:txBody>
      </p:sp>
    </p:spTree>
    <p:extLst>
      <p:ext uri="{BB962C8B-B14F-4D97-AF65-F5344CB8AC3E}">
        <p14:creationId xmlns:p14="http://schemas.microsoft.com/office/powerpoint/2010/main" val="15672229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4. Electrical design</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4.2 Labelling sensor</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2">
            <a:extLst>
              <a:ext uri="{FF2B5EF4-FFF2-40B4-BE49-F238E27FC236}">
                <a16:creationId xmlns:a16="http://schemas.microsoft.com/office/drawing/2014/main" id="{B1BBCDCC-EB47-464C-88B9-1F19ABF926F5}"/>
              </a:ext>
            </a:extLst>
          </p:cNvPr>
          <p:cNvSpPr>
            <a:spLocks noChangeArrowheads="1"/>
          </p:cNvSpPr>
          <p:nvPr/>
        </p:nvSpPr>
        <p:spPr bwMode="auto">
          <a:xfrm>
            <a:off x="2877053" y="191409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3">
            <a:extLst>
              <a:ext uri="{FF2B5EF4-FFF2-40B4-BE49-F238E27FC236}">
                <a16:creationId xmlns:a16="http://schemas.microsoft.com/office/drawing/2014/main" id="{41B20D91-538D-4818-8D4A-E029A738004E}"/>
              </a:ext>
            </a:extLst>
          </p:cNvPr>
          <p:cNvSpPr>
            <a:spLocks noChangeArrowheads="1"/>
          </p:cNvSpPr>
          <p:nvPr/>
        </p:nvSpPr>
        <p:spPr bwMode="auto">
          <a:xfrm>
            <a:off x="4745050" y="6039671"/>
            <a:ext cx="270189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i="1" dirty="0" bmk="_Toc120006665">
                <a:latin typeface="Times New Roman" panose="02020603050405020304" pitchFamily="18" charset="0"/>
                <a:ea typeface="Calibri" panose="020F0502020204030204" pitchFamily="34" charset="0"/>
                <a:cs typeface="Times New Roman" panose="02020603050405020304" pitchFamily="18" charset="0"/>
              </a:rPr>
              <a:t>S</a:t>
            </a:r>
            <a:r>
              <a:rPr kumimoji="0" lang="en-US" altLang="en-US" b="0" i="1" u="none" strike="noStrike" cap="none" normalizeH="0" baseline="0" dirty="0" bmk="_Toc120006665">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imulation with Vin = 1.6V</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2">
            <a:extLst>
              <a:ext uri="{FF2B5EF4-FFF2-40B4-BE49-F238E27FC236}">
                <a16:creationId xmlns:a16="http://schemas.microsoft.com/office/drawing/2014/main" id="{92410987-A9A8-449C-A7B5-90CE7A3C2363}"/>
              </a:ext>
            </a:extLst>
          </p:cNvPr>
          <p:cNvSpPr txBox="1">
            <a:spLocks/>
          </p:cNvSpPr>
          <p:nvPr/>
        </p:nvSpPr>
        <p:spPr>
          <a:xfrm>
            <a:off x="838201" y="1737737"/>
            <a:ext cx="10515599" cy="41407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Simulation result using Proteus software:</a:t>
            </a:r>
          </a:p>
          <a:p>
            <a:pPr marL="0" indent="0">
              <a:buFont typeface="Arial" panose="020B0604020202020204" pitchFamily="34" charset="0"/>
              <a:buNone/>
            </a:pPr>
            <a:endParaRPr lang="en-US" sz="2400" dirty="0"/>
          </a:p>
        </p:txBody>
      </p:sp>
      <p:pic>
        <p:nvPicPr>
          <p:cNvPr id="13" name="Picture 12">
            <a:extLst>
              <a:ext uri="{FF2B5EF4-FFF2-40B4-BE49-F238E27FC236}">
                <a16:creationId xmlns:a16="http://schemas.microsoft.com/office/drawing/2014/main" id="{642E1756-D927-4912-B8E5-CE9049551DCB}"/>
              </a:ext>
            </a:extLst>
          </p:cNvPr>
          <p:cNvPicPr/>
          <p:nvPr/>
        </p:nvPicPr>
        <p:blipFill>
          <a:blip r:embed="rId2"/>
          <a:stretch>
            <a:fillRect/>
          </a:stretch>
        </p:blipFill>
        <p:spPr>
          <a:xfrm>
            <a:off x="2767843" y="2136746"/>
            <a:ext cx="6547104" cy="3904488"/>
          </a:xfrm>
          <a:prstGeom prst="rect">
            <a:avLst/>
          </a:prstGeom>
        </p:spPr>
      </p:pic>
    </p:spTree>
    <p:extLst>
      <p:ext uri="{BB962C8B-B14F-4D97-AF65-F5344CB8AC3E}">
        <p14:creationId xmlns:p14="http://schemas.microsoft.com/office/powerpoint/2010/main" val="8213153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4. Electrical design</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4.3 Electrical diagram of system </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D05D063-B563-42FF-9693-4E46211AAE54}"/>
              </a:ext>
            </a:extLst>
          </p:cNvPr>
          <p:cNvSpPr/>
          <p:nvPr/>
        </p:nvSpPr>
        <p:spPr>
          <a:xfrm>
            <a:off x="0" y="6499464"/>
            <a:ext cx="12192000" cy="358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37DB24-2BE8-453D-9F8E-3853366289E1}"/>
              </a:ext>
            </a:extLst>
          </p:cNvPr>
          <p:cNvSpPr/>
          <p:nvPr/>
        </p:nvSpPr>
        <p:spPr>
          <a:xfrm>
            <a:off x="0" y="6453744"/>
            <a:ext cx="12192000" cy="45719"/>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2">
            <a:extLst>
              <a:ext uri="{FF2B5EF4-FFF2-40B4-BE49-F238E27FC236}">
                <a16:creationId xmlns:a16="http://schemas.microsoft.com/office/drawing/2014/main" id="{B1BBCDCC-EB47-464C-88B9-1F19ABF926F5}"/>
              </a:ext>
            </a:extLst>
          </p:cNvPr>
          <p:cNvSpPr>
            <a:spLocks noChangeArrowheads="1"/>
          </p:cNvSpPr>
          <p:nvPr/>
        </p:nvSpPr>
        <p:spPr bwMode="auto">
          <a:xfrm>
            <a:off x="2877053" y="191409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8" name="Picture 7">
            <a:extLst>
              <a:ext uri="{FF2B5EF4-FFF2-40B4-BE49-F238E27FC236}">
                <a16:creationId xmlns:a16="http://schemas.microsoft.com/office/drawing/2014/main" id="{3C8D3ABA-4042-45DF-A6FE-58BA7435F40F}"/>
              </a:ext>
            </a:extLst>
          </p:cNvPr>
          <p:cNvPicPr>
            <a:picLocks noChangeAspect="1"/>
          </p:cNvPicPr>
          <p:nvPr/>
        </p:nvPicPr>
        <p:blipFill>
          <a:blip r:embed="rId2"/>
          <a:stretch>
            <a:fillRect/>
          </a:stretch>
        </p:blipFill>
        <p:spPr>
          <a:xfrm>
            <a:off x="2556370" y="1687062"/>
            <a:ext cx="7079259" cy="4591537"/>
          </a:xfrm>
          <a:prstGeom prst="rect">
            <a:avLst/>
          </a:prstGeom>
        </p:spPr>
      </p:pic>
    </p:spTree>
    <p:extLst>
      <p:ext uri="{BB962C8B-B14F-4D97-AF65-F5344CB8AC3E}">
        <p14:creationId xmlns:p14="http://schemas.microsoft.com/office/powerpoint/2010/main" val="17022149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5. Controller design</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5.1 Main program</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A8911512-BB16-4E6D-BDC9-C57A77CF9192}"/>
              </a:ext>
            </a:extLst>
          </p:cNvPr>
          <p:cNvPicPr>
            <a:picLocks noChangeAspect="1"/>
          </p:cNvPicPr>
          <p:nvPr/>
        </p:nvPicPr>
        <p:blipFill>
          <a:blip r:embed="rId2"/>
          <a:stretch>
            <a:fillRect/>
          </a:stretch>
        </p:blipFill>
        <p:spPr>
          <a:xfrm>
            <a:off x="3246340" y="1569499"/>
            <a:ext cx="6162308" cy="5184607"/>
          </a:xfrm>
          <a:prstGeom prst="rect">
            <a:avLst/>
          </a:prstGeom>
        </p:spPr>
      </p:pic>
    </p:spTree>
    <p:extLst>
      <p:ext uri="{BB962C8B-B14F-4D97-AF65-F5344CB8AC3E}">
        <p14:creationId xmlns:p14="http://schemas.microsoft.com/office/powerpoint/2010/main" val="20447087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5. Controller design</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5.2 Labelling tag subprogram</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244A29E2-1ABD-4C32-9658-4BA3C9675D3E}"/>
              </a:ext>
            </a:extLst>
          </p:cNvPr>
          <p:cNvPicPr>
            <a:picLocks noChangeAspect="1"/>
          </p:cNvPicPr>
          <p:nvPr/>
        </p:nvPicPr>
        <p:blipFill>
          <a:blip r:embed="rId2"/>
          <a:stretch>
            <a:fillRect/>
          </a:stretch>
        </p:blipFill>
        <p:spPr>
          <a:xfrm>
            <a:off x="2715768" y="1817172"/>
            <a:ext cx="6760464" cy="4415028"/>
          </a:xfrm>
          <a:prstGeom prst="rect">
            <a:avLst/>
          </a:prstGeom>
        </p:spPr>
      </p:pic>
    </p:spTree>
    <p:extLst>
      <p:ext uri="{BB962C8B-B14F-4D97-AF65-F5344CB8AC3E}">
        <p14:creationId xmlns:p14="http://schemas.microsoft.com/office/powerpoint/2010/main" val="32933793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5. Controller design</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5.3 Labelling tag subprogram</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D5ABD29E-0587-481B-B38F-D7D4CD19E46A}"/>
              </a:ext>
            </a:extLst>
          </p:cNvPr>
          <p:cNvPicPr>
            <a:picLocks noChangeAspect="1"/>
          </p:cNvPicPr>
          <p:nvPr/>
        </p:nvPicPr>
        <p:blipFill>
          <a:blip r:embed="rId2"/>
          <a:stretch>
            <a:fillRect/>
          </a:stretch>
        </p:blipFill>
        <p:spPr>
          <a:xfrm>
            <a:off x="2715768" y="1948591"/>
            <a:ext cx="6760464" cy="4415028"/>
          </a:xfrm>
          <a:prstGeom prst="rect">
            <a:avLst/>
          </a:prstGeom>
        </p:spPr>
      </p:pic>
    </p:spTree>
    <p:extLst>
      <p:ext uri="{BB962C8B-B14F-4D97-AF65-F5344CB8AC3E}">
        <p14:creationId xmlns:p14="http://schemas.microsoft.com/office/powerpoint/2010/main" val="24519004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5. Controller design</a:t>
            </a:r>
          </a:p>
        </p:txBody>
      </p:sp>
      <p:sp>
        <p:nvSpPr>
          <p:cNvPr id="3" name="Content Placeholder 2">
            <a:extLst>
              <a:ext uri="{FF2B5EF4-FFF2-40B4-BE49-F238E27FC236}">
                <a16:creationId xmlns:a16="http://schemas.microsoft.com/office/drawing/2014/main" id="{62DDA046-05AD-475D-8A02-EC738054D03A}"/>
              </a:ext>
            </a:extLst>
          </p:cNvPr>
          <p:cNvSpPr>
            <a:spLocks noGrp="1"/>
          </p:cNvSpPr>
          <p:nvPr>
            <p:ph idx="1"/>
          </p:nvPr>
        </p:nvSpPr>
        <p:spPr>
          <a:xfrm>
            <a:off x="838201" y="1272988"/>
            <a:ext cx="10515599" cy="414074"/>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5.4 Read RFID subprogram</a:t>
            </a:r>
          </a:p>
          <a:p>
            <a:pPr marL="0" indent="0">
              <a:buNone/>
            </a:pPr>
            <a:endParaRPr lang="en-US" sz="2400" dirty="0"/>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grpSp>
        <p:nvGrpSpPr>
          <p:cNvPr id="33" name="Canvas 142">
            <a:extLst>
              <a:ext uri="{FF2B5EF4-FFF2-40B4-BE49-F238E27FC236}">
                <a16:creationId xmlns:a16="http://schemas.microsoft.com/office/drawing/2014/main" id="{E2F3E5A4-CB9D-4FD7-94EE-B3292AB3E6BF}"/>
              </a:ext>
            </a:extLst>
          </p:cNvPr>
          <p:cNvGrpSpPr/>
          <p:nvPr/>
        </p:nvGrpSpPr>
        <p:grpSpPr>
          <a:xfrm>
            <a:off x="4796790" y="1924134"/>
            <a:ext cx="2598420" cy="3703320"/>
            <a:chOff x="0" y="0"/>
            <a:chExt cx="2598420" cy="3703320"/>
          </a:xfrm>
        </p:grpSpPr>
        <p:sp>
          <p:nvSpPr>
            <p:cNvPr id="34" name="Rectangle 33">
              <a:extLst>
                <a:ext uri="{FF2B5EF4-FFF2-40B4-BE49-F238E27FC236}">
                  <a16:creationId xmlns:a16="http://schemas.microsoft.com/office/drawing/2014/main" id="{D440C22D-29D4-4696-B0BE-10FB1E0E0767}"/>
                </a:ext>
              </a:extLst>
            </p:cNvPr>
            <p:cNvSpPr/>
            <p:nvPr/>
          </p:nvSpPr>
          <p:spPr>
            <a:xfrm>
              <a:off x="0" y="0"/>
              <a:ext cx="2598420" cy="3703320"/>
            </a:xfrm>
            <a:prstGeom prst="rect">
              <a:avLst/>
            </a:prstGeom>
            <a:solidFill>
              <a:prstClr val="white"/>
            </a:solidFill>
          </p:spPr>
        </p:sp>
        <p:sp>
          <p:nvSpPr>
            <p:cNvPr id="35" name="Text Box 24">
              <a:extLst>
                <a:ext uri="{FF2B5EF4-FFF2-40B4-BE49-F238E27FC236}">
                  <a16:creationId xmlns:a16="http://schemas.microsoft.com/office/drawing/2014/main" id="{338140FB-FC95-4358-82C1-FDAF7B3CD0C5}"/>
                </a:ext>
              </a:extLst>
            </p:cNvPr>
            <p:cNvSpPr txBox="1"/>
            <p:nvPr/>
          </p:nvSpPr>
          <p:spPr>
            <a:xfrm>
              <a:off x="83426" y="1050290"/>
              <a:ext cx="414280" cy="237490"/>
            </a:xfrm>
            <a:prstGeom prst="rect">
              <a:avLst/>
            </a:prstGeom>
            <a:solidFill>
              <a:schemeClr val="lt1"/>
            </a:solidFill>
            <a:ln w="6350">
              <a:noFill/>
            </a:ln>
          </p:spPr>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6000"/>
                </a:lnSpc>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No</a:t>
              </a:r>
            </a:p>
          </p:txBody>
        </p:sp>
        <p:sp>
          <p:nvSpPr>
            <p:cNvPr id="36" name="Text Box 127">
              <a:extLst>
                <a:ext uri="{FF2B5EF4-FFF2-40B4-BE49-F238E27FC236}">
                  <a16:creationId xmlns:a16="http://schemas.microsoft.com/office/drawing/2014/main" id="{595A6A4F-6EA3-4E09-BD9B-09D6359C1E88}"/>
                </a:ext>
              </a:extLst>
            </p:cNvPr>
            <p:cNvSpPr txBox="1"/>
            <p:nvPr/>
          </p:nvSpPr>
          <p:spPr>
            <a:xfrm>
              <a:off x="1279481" y="1703427"/>
              <a:ext cx="424044" cy="238124"/>
            </a:xfrm>
            <a:prstGeom prst="rect">
              <a:avLst/>
            </a:prstGeom>
            <a:solidFill>
              <a:schemeClr val="lt1"/>
            </a:solidFill>
            <a:ln w="6350">
              <a:noFill/>
            </a:ln>
          </p:spPr>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Yes</a:t>
              </a:r>
            </a:p>
          </p:txBody>
        </p:sp>
        <p:sp>
          <p:nvSpPr>
            <p:cNvPr id="37" name="Rectangle: Rounded Corners 36">
              <a:extLst>
                <a:ext uri="{FF2B5EF4-FFF2-40B4-BE49-F238E27FC236}">
                  <a16:creationId xmlns:a16="http://schemas.microsoft.com/office/drawing/2014/main" id="{52D55FB0-A6FC-42C7-8D4C-17F69325A094}"/>
                </a:ext>
              </a:extLst>
            </p:cNvPr>
            <p:cNvSpPr/>
            <p:nvPr/>
          </p:nvSpPr>
          <p:spPr>
            <a:xfrm>
              <a:off x="705600" y="74295"/>
              <a:ext cx="1269841" cy="459105"/>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US" sz="1100">
                  <a:effectLst/>
                  <a:ea typeface="Calibri" panose="020F0502020204030204" pitchFamily="34" charset="0"/>
                  <a:cs typeface="Times New Roman" panose="02020603050405020304" pitchFamily="18" charset="0"/>
                </a:rPr>
                <a:t>Read RFID</a:t>
              </a:r>
            </a:p>
          </p:txBody>
        </p:sp>
        <p:sp>
          <p:nvSpPr>
            <p:cNvPr id="38" name="Rectangle: Rounded Corners 37">
              <a:extLst>
                <a:ext uri="{FF2B5EF4-FFF2-40B4-BE49-F238E27FC236}">
                  <a16:creationId xmlns:a16="http://schemas.microsoft.com/office/drawing/2014/main" id="{5FA3C260-3951-4739-B1A7-C16B285DA4EB}"/>
                </a:ext>
              </a:extLst>
            </p:cNvPr>
            <p:cNvSpPr/>
            <p:nvPr/>
          </p:nvSpPr>
          <p:spPr>
            <a:xfrm>
              <a:off x="753225" y="2984071"/>
              <a:ext cx="1173480" cy="495300"/>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6000"/>
                </a:lnSpc>
                <a:spcAft>
                  <a:spcPts val="800"/>
                </a:spcAft>
              </a:pPr>
              <a:r>
                <a:rPr lang="en-US" sz="1100">
                  <a:effectLst/>
                  <a:ea typeface="Calibri" panose="020F0502020204030204" pitchFamily="34" charset="0"/>
                  <a:cs typeface="Times New Roman" panose="02020603050405020304" pitchFamily="18" charset="0"/>
                </a:rPr>
                <a:t>Return</a:t>
              </a:r>
            </a:p>
          </p:txBody>
        </p:sp>
        <p:sp>
          <p:nvSpPr>
            <p:cNvPr id="39" name="Diamond 38">
              <a:extLst>
                <a:ext uri="{FF2B5EF4-FFF2-40B4-BE49-F238E27FC236}">
                  <a16:creationId xmlns:a16="http://schemas.microsoft.com/office/drawing/2014/main" id="{572CD311-945C-44BD-BB3E-CBB0610AD2BD}"/>
                </a:ext>
              </a:extLst>
            </p:cNvPr>
            <p:cNvSpPr/>
            <p:nvPr/>
          </p:nvSpPr>
          <p:spPr>
            <a:xfrm>
              <a:off x="383200" y="835659"/>
              <a:ext cx="1914525" cy="90424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6000"/>
                </a:lnSpc>
                <a:spcAft>
                  <a:spcPts val="800"/>
                </a:spcAft>
              </a:pPr>
              <a:r>
                <a:rPr lang="en-US" sz="1100">
                  <a:effectLst/>
                  <a:ea typeface="Calibri" panose="020F0502020204030204" pitchFamily="34" charset="0"/>
                  <a:cs typeface="Times New Roman" panose="02020603050405020304" pitchFamily="18" charset="0"/>
                </a:rPr>
                <a:t>New RFID tag detect?</a:t>
              </a:r>
            </a:p>
          </p:txBody>
        </p:sp>
        <p:sp>
          <p:nvSpPr>
            <p:cNvPr id="40" name="Rectangle 39">
              <a:extLst>
                <a:ext uri="{FF2B5EF4-FFF2-40B4-BE49-F238E27FC236}">
                  <a16:creationId xmlns:a16="http://schemas.microsoft.com/office/drawing/2014/main" id="{5E819532-5808-49B0-BA2D-CC4EF22E171D}"/>
                </a:ext>
              </a:extLst>
            </p:cNvPr>
            <p:cNvSpPr/>
            <p:nvPr/>
          </p:nvSpPr>
          <p:spPr>
            <a:xfrm>
              <a:off x="620818" y="1995805"/>
              <a:ext cx="1439545" cy="7194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6000"/>
                </a:lnSpc>
                <a:spcAft>
                  <a:spcPts val="800"/>
                </a:spcAft>
              </a:pPr>
              <a:r>
                <a:rPr lang="en-US" sz="1100">
                  <a:effectLst/>
                  <a:ea typeface="Calibri" panose="020F0502020204030204" pitchFamily="34" charset="0"/>
                  <a:cs typeface="Times New Roman" panose="02020603050405020304" pitchFamily="18" charset="0"/>
                </a:rPr>
                <a:t>Read RFID and send to database</a:t>
              </a:r>
            </a:p>
          </p:txBody>
        </p:sp>
        <p:cxnSp>
          <p:nvCxnSpPr>
            <p:cNvPr id="41" name="Straight Arrow Connector 40">
              <a:extLst>
                <a:ext uri="{FF2B5EF4-FFF2-40B4-BE49-F238E27FC236}">
                  <a16:creationId xmlns:a16="http://schemas.microsoft.com/office/drawing/2014/main" id="{E3FE44EE-CF57-4FB7-8ED3-8A15DBD2CB71}"/>
                </a:ext>
              </a:extLst>
            </p:cNvPr>
            <p:cNvCxnSpPr>
              <a:stCxn id="37" idx="2"/>
              <a:endCxn id="39" idx="0"/>
            </p:cNvCxnSpPr>
            <p:nvPr/>
          </p:nvCxnSpPr>
          <p:spPr>
            <a:xfrm flipH="1">
              <a:off x="1340463" y="533400"/>
              <a:ext cx="58" cy="3022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65250C6F-1A37-4CE3-860D-27BA5E43E1FB}"/>
                </a:ext>
              </a:extLst>
            </p:cNvPr>
            <p:cNvCxnSpPr>
              <a:stCxn id="39" idx="2"/>
              <a:endCxn id="40" idx="0"/>
            </p:cNvCxnSpPr>
            <p:nvPr/>
          </p:nvCxnSpPr>
          <p:spPr>
            <a:xfrm>
              <a:off x="1340463" y="1739899"/>
              <a:ext cx="128" cy="2559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D12A5431-7115-4FB0-B748-BA0B014C013E}"/>
                </a:ext>
              </a:extLst>
            </p:cNvPr>
            <p:cNvCxnSpPr>
              <a:stCxn id="40" idx="2"/>
              <a:endCxn id="38" idx="0"/>
            </p:cNvCxnSpPr>
            <p:nvPr/>
          </p:nvCxnSpPr>
          <p:spPr>
            <a:xfrm flipH="1">
              <a:off x="1339965" y="2715260"/>
              <a:ext cx="626" cy="2688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82F93DDD-EE79-44E1-B16B-31B54F259DD9}"/>
                </a:ext>
              </a:extLst>
            </p:cNvPr>
            <p:cNvCxnSpPr>
              <a:stCxn id="39" idx="1"/>
            </p:cNvCxnSpPr>
            <p:nvPr/>
          </p:nvCxnSpPr>
          <p:spPr>
            <a:xfrm rot="10800000" flipH="1">
              <a:off x="383200" y="678181"/>
              <a:ext cx="980780" cy="609599"/>
            </a:xfrm>
            <a:prstGeom prst="bentConnector3">
              <a:avLst>
                <a:gd name="adj1" fmla="val -23308"/>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924225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D155-3A8C-428A-A82F-9B7E065E6C39}"/>
              </a:ext>
            </a:extLst>
          </p:cNvPr>
          <p:cNvSpPr>
            <a:spLocks noGrp="1"/>
          </p:cNvSpPr>
          <p:nvPr>
            <p:ph type="title"/>
          </p:nvPr>
        </p:nvSpPr>
        <p:spPr>
          <a:xfrm>
            <a:off x="838200" y="365125"/>
            <a:ext cx="10515600" cy="907863"/>
          </a:xfrm>
        </p:spPr>
        <p:txBody>
          <a:bodyPr>
            <a:normAutofit/>
          </a:bodyPr>
          <a:lstStyle/>
          <a:p>
            <a:r>
              <a:rPr lang="en-US" sz="3200" dirty="0">
                <a:latin typeface="Times New Roman" panose="02020603050405020304" pitchFamily="18" charset="0"/>
                <a:ea typeface="Tahoma" panose="020B0604030504040204" pitchFamily="34" charset="0"/>
                <a:cs typeface="Times New Roman" panose="02020603050405020304" pitchFamily="18" charset="0"/>
              </a:rPr>
              <a:t>6. Practical testing</a:t>
            </a:r>
          </a:p>
        </p:txBody>
      </p:sp>
      <p:cxnSp>
        <p:nvCxnSpPr>
          <p:cNvPr id="5" name="Straight Connector 4">
            <a:extLst>
              <a:ext uri="{FF2B5EF4-FFF2-40B4-BE49-F238E27FC236}">
                <a16:creationId xmlns:a16="http://schemas.microsoft.com/office/drawing/2014/main" id="{9CF612CA-8C73-49C9-9D7C-31600144E665}"/>
              </a:ext>
            </a:extLst>
          </p:cNvPr>
          <p:cNvCxnSpPr>
            <a:cxnSpLocks/>
          </p:cNvCxnSpPr>
          <p:nvPr/>
        </p:nvCxnSpPr>
        <p:spPr>
          <a:xfrm>
            <a:off x="838200" y="1136341"/>
            <a:ext cx="10515600" cy="6537"/>
          </a:xfrm>
          <a:prstGeom prst="line">
            <a:avLst/>
          </a:prstGeom>
        </p:spPr>
        <p:style>
          <a:lnRef idx="1">
            <a:schemeClr val="accent1"/>
          </a:lnRef>
          <a:fillRef idx="0">
            <a:schemeClr val="accent1"/>
          </a:fillRef>
          <a:effectRef idx="0">
            <a:schemeClr val="accent1"/>
          </a:effectRef>
          <a:fontRef idx="minor">
            <a:schemeClr val="tx1"/>
          </a:fontRef>
        </p:style>
      </p:cxnSp>
      <p:sp>
        <p:nvSpPr>
          <p:cNvPr id="6" name="Content Placeholder 5">
            <a:extLst>
              <a:ext uri="{FF2B5EF4-FFF2-40B4-BE49-F238E27FC236}">
                <a16:creationId xmlns:a16="http://schemas.microsoft.com/office/drawing/2014/main" id="{7FBC1F8E-3DA7-4877-AB4C-265D689534E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7320659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503</TotalTime>
  <Words>1601</Words>
  <Application>Microsoft Office PowerPoint</Application>
  <PresentationFormat>Widescreen</PresentationFormat>
  <Paragraphs>279</Paragraphs>
  <Slides>37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Calibri Light</vt:lpstr>
      <vt:lpstr>Cambria Math</vt:lpstr>
      <vt:lpstr>Times New Roman</vt:lpstr>
      <vt:lpstr>Wingdings</vt:lpstr>
      <vt:lpstr>Office Theme</vt:lpstr>
      <vt:lpstr>DESIGN OF AUTOMATIC RFID TAG LABELLING MACHINE</vt:lpstr>
      <vt:lpstr>1. Overview</vt:lpstr>
      <vt:lpstr>1. Overview</vt:lpstr>
      <vt:lpstr>1. Overview</vt:lpstr>
      <vt:lpstr>1. Overview</vt:lpstr>
      <vt:lpstr>1. Overview</vt:lpstr>
      <vt:lpstr>1. Overview</vt:lpstr>
      <vt:lpstr>1. Overview</vt:lpstr>
      <vt:lpstr>1. Overview</vt:lpstr>
      <vt:lpstr>2. Approaches</vt:lpstr>
      <vt:lpstr>2. Approaches</vt:lpstr>
      <vt:lpstr>2. Approaches</vt:lpstr>
      <vt:lpstr>2. Approaches</vt:lpstr>
      <vt:lpstr>3. Mechanical design</vt:lpstr>
      <vt:lpstr>3. Mechanical design</vt:lpstr>
      <vt:lpstr>3. Mechanical design</vt:lpstr>
      <vt:lpstr>3. Mechanical design</vt:lpstr>
      <vt:lpstr>3. Mechanical design</vt:lpstr>
      <vt:lpstr>3. Mechanical design</vt:lpstr>
      <vt:lpstr>3. Mechanical design</vt:lpstr>
      <vt:lpstr>3. Mechanical design</vt:lpstr>
      <vt:lpstr>4. Electrical design</vt:lpstr>
      <vt:lpstr>4. Electrical design</vt:lpstr>
      <vt:lpstr>4. Electrical design</vt:lpstr>
      <vt:lpstr>4. Electrical design</vt:lpstr>
      <vt:lpstr>4. Electrical design</vt:lpstr>
      <vt:lpstr>4. Electrical design</vt:lpstr>
      <vt:lpstr>4. Electrical design</vt:lpstr>
      <vt:lpstr>4. Electrical design</vt:lpstr>
      <vt:lpstr>4. Electrical design</vt:lpstr>
      <vt:lpstr>4. Electrical design</vt:lpstr>
      <vt:lpstr>4. Electrical design</vt:lpstr>
      <vt:lpstr>5. Controller design</vt:lpstr>
      <vt:lpstr>5. Controller design</vt:lpstr>
      <vt:lpstr>5. Controller design</vt:lpstr>
      <vt:lpstr>5. Controller design</vt:lpstr>
      <vt:lpstr>6. Practical testing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Duy</dc:creator>
  <cp:lastModifiedBy>Duy</cp:lastModifiedBy>
  <cp:revision>24</cp:revision>
  <dcterms:created xsi:type="dcterms:W3CDTF">2022-12-15T04:08:23Z</dcterms:created>
  <dcterms:modified xsi:type="dcterms:W3CDTF">2022-12-17T11:26:11Z</dcterms:modified>
</cp:coreProperties>
</file>