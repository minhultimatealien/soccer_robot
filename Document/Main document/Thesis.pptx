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9" r:id="rId3"/>
    <p:sldId id="258" r:id="rId4"/>
    <p:sldId id="260" r:id="rId5"/>
    <p:sldId id="267" r:id="rId6"/>
    <p:sldId id="271" r:id="rId7"/>
    <p:sldId id="297" r:id="rId8"/>
    <p:sldId id="265" r:id="rId9"/>
    <p:sldId id="298" r:id="rId10"/>
    <p:sldId id="270" r:id="rId11"/>
    <p:sldId id="299" r:id="rId12"/>
    <p:sldId id="269" r:id="rId13"/>
    <p:sldId id="300" r:id="rId14"/>
    <p:sldId id="301" r:id="rId15"/>
    <p:sldId id="302" r:id="rId16"/>
    <p:sldId id="30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839" autoAdjust="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82C47-EBBB-4D30-A7CC-13179823C9F0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F7975-691C-4E65-8DD7-1212E23D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6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procus.com/different-types-of-autonomous-robots-and-real-time-applications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A soccer robot is a one kind of mobile or </a:t>
            </a:r>
            <a:r>
              <a:rPr lang="en-US" b="0" i="0" u="none" strike="noStrike" dirty="0">
                <a:solidFill>
                  <a:srgbClr val="E03800"/>
                </a:solidFill>
                <a:effectLst/>
                <a:latin typeface="Arial" panose="020B0604020202020204" pitchFamily="34" charset="0"/>
                <a:hlinkClick r:id="rId3"/>
              </a:rPr>
              <a:t>autonomous robot</a:t>
            </a:r>
            <a:r>
              <a:rPr lang="en-US" b="0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, used to play soccer with variants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Fira Sans" panose="020B0503050000020004" pitchFamily="34" charset="0"/>
              </a:rPr>
              <a:t>The idea of robot soccer games started in 1997 by Alan Mackworth, which has evolved into international robotics competitions.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Fira Sans" panose="020B0503050000020004" pitchFamily="34" charset="0"/>
              </a:rPr>
              <a:t>The main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Fira Sans" panose="020B0503050000020004" pitchFamily="34" charset="0"/>
              </a:rPr>
              <a:t>organised</a:t>
            </a:r>
            <a:r>
              <a:rPr lang="en-US" b="0" i="0" dirty="0">
                <a:solidFill>
                  <a:srgbClr val="444444"/>
                </a:solidFill>
                <a:effectLst/>
                <a:latin typeface="Fira Sans" panose="020B0503050000020004" pitchFamily="34" charset="0"/>
              </a:rPr>
              <a:t> competitions are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Fira Sans" panose="020B0503050000020004" pitchFamily="34" charset="0"/>
              </a:rPr>
              <a:t>RoboCup</a:t>
            </a:r>
            <a:r>
              <a:rPr lang="en-US" b="0" i="0" dirty="0">
                <a:solidFill>
                  <a:srgbClr val="444444"/>
                </a:solidFill>
                <a:effectLst/>
                <a:latin typeface="Fira Sans" panose="020B0503050000020004" pitchFamily="34" charset="0"/>
              </a:rPr>
              <a:t> or FIRA tournaments played each year.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D201-DF2C-482A-92D0-BE702ED58A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05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7D201-DF2C-482A-92D0-BE702ED58A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37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806BB-984C-A211-F20F-B53C4D456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9B02C-B408-7D23-9421-572002AC9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D1204-9037-E332-2AB6-F15D771C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ADED4-56D6-E47F-6D8F-1D3AAA37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7C7C-7632-260B-65A0-D8E16E27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29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CDC8-5C22-58B6-9227-A1A7CD79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D8A8F-0A1A-2B6A-8DA9-DA7C8854E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36CAA-0C99-7259-6CA0-680D68BA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9C78E-96B4-1D03-2310-CE63254D2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56C79-B6CE-CF2E-A570-95D044360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3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A2A43-15C7-021E-8160-D329D94FE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2F39F-F4C2-B2F5-A030-A49DDB220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BF080-FF1C-0455-78E7-B0BD4DFF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3AE60-07A0-75CF-F5AE-DAEC16DC5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08237-4426-DE07-6410-8ABE4B23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67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6223-3C1E-633E-7557-5D3469D6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5D67-2371-6CA2-F787-316DC8DB6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1F7FC-C422-B954-A152-526C41F68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4290-1EAC-0781-2434-106F0743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7A9E3-A52F-AC02-F9D3-0EB847CA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D5035-4C1E-D1F5-4016-9DD93D63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7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06A3-DB88-3030-A9DD-81EC1F096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7653-3261-7B2A-72FB-41D32A83C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0E02C-896B-65F9-EC37-A557213F3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53985-1B56-BFB3-1B76-903D02B43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AA533-3FF1-7CD5-7478-D5F2F1663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185020-FF65-6526-715E-DF025CF5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E747E-395C-7715-C9AE-61FD9F0E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908565-9400-9552-AF22-1AE221E1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01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043F-3322-50CE-4D36-4ED71D72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5FD952-7EF8-03C9-2406-B73107C1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11AB53-7A33-611E-3E6E-820B82C80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A3E76-4595-8585-8133-1CC00B5E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1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F6AA6-1CE8-58B3-6762-B7C7FFFD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52F79-E800-2B79-6C15-E33C70A9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6DAA6-E83B-351E-164E-EC6DE32B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37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A6D0-9923-2D0D-135A-EE59ED6D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3B27-EB09-E0F3-CE59-D1AFCDE7E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F7A4D-197C-8970-3AFF-D85071A22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42CBD-F636-8D01-A350-3D3EBFBA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54D33-6858-1828-0224-5BBEE7718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FDC53-F2DF-E587-0959-228905C95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2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4232C-9D64-94E5-A5BB-D26507A7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C4799-3958-7DB6-AB30-69F1D6EAF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614DB-5EEA-0E93-192D-7F40372C4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0568C-602E-FBE2-87F1-F9CD45048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27C86-411C-D703-E1A4-4989BA0D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20EF1-9DF8-B0ED-B5B3-76992FBD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9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534B-EF1B-97B3-5436-E04D8772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08755-66FD-9154-D681-CAEC4F061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52000-AB67-8A57-B4D5-2E6CB433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A88D-2F01-CD6A-FC44-DFA94CCF9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D794-1538-E102-D03B-7D8A7A56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C7A29-0820-1F8C-E09C-086548CA6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AE872-2F76-A93C-5BEB-FB8498B7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B6CFA-DE92-9C48-5DBB-7E27F205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DEF3-52D0-080B-8151-C81CC3F6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CDA6F-5C13-680E-F6E7-A3D17C85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71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BEED5E-8DD4-B247-C79B-BB2E1943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F79F0-1CB4-06D4-5728-78055D2F7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B8BB3-4BFF-0800-F659-80985005A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61318-D82A-4129-8BA9-B1FE8F5810A2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0CCA8-AEC4-15A4-8B99-57C92C1E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13AC6-6CA7-2FA7-9373-192077C9B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DD988-333E-47A3-B495-A352DD300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8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jp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e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package" Target="../embeddings/Microsoft_Visio_Drawing.vsdx"/><Relationship Id="rId7" Type="http://schemas.openxmlformats.org/officeDocument/2006/relationships/package" Target="../embeddings/Microsoft_Visio_Drawing2.vsdx"/><Relationship Id="rId12" Type="http://schemas.openxmlformats.org/officeDocument/2006/relationships/image" Target="../media/image1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11" Type="http://schemas.openxmlformats.org/officeDocument/2006/relationships/package" Target="../embeddings/Microsoft_Visio_Drawing4.vsdx"/><Relationship Id="rId5" Type="http://schemas.openxmlformats.org/officeDocument/2006/relationships/package" Target="../embeddings/Microsoft_Visio_Drawing1.vsdx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package" Target="../embeddings/Microsoft_Visio_Drawing3.vsd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5.vsd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Visio_Drawing6.vsdx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7.vsd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Visio_Drawing8.vsdx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9.vsd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Visio_Drawing10.vsdx"/><Relationship Id="rId4" Type="http://schemas.openxmlformats.org/officeDocument/2006/relationships/image" Target="../media/image3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035" y="445668"/>
            <a:ext cx="1721929" cy="17219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-1" y="1791888"/>
            <a:ext cx="12192000" cy="5253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+mn-lt"/>
              </a:rPr>
              <a:t>Dissertation Report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FAD4CC0-9DFB-44FA-B487-FD1B13C9C571}"/>
              </a:ext>
            </a:extLst>
          </p:cNvPr>
          <p:cNvSpPr txBox="1">
            <a:spLocks/>
          </p:cNvSpPr>
          <p:nvPr/>
        </p:nvSpPr>
        <p:spPr>
          <a:xfrm>
            <a:off x="0" y="2466914"/>
            <a:ext cx="12192000" cy="217403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and design of soccer robot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01E59-8AFD-4914-B449-A2B3A35808C9}"/>
              </a:ext>
            </a:extLst>
          </p:cNvPr>
          <p:cNvSpPr txBox="1"/>
          <p:nvPr/>
        </p:nvSpPr>
        <p:spPr>
          <a:xfrm>
            <a:off x="804072" y="5036983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	PHAN TIEN MINH ( ID : 1852581 )     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BUI VIET THANG</a:t>
            </a:r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NSTRUCTOR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Dr.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PHAM CONG BANG</a:t>
            </a:r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1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12260" y="6538912"/>
            <a:ext cx="8763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 min</a:t>
            </a:r>
          </a:p>
        </p:txBody>
      </p:sp>
    </p:spTree>
    <p:extLst>
      <p:ext uri="{BB962C8B-B14F-4D97-AF65-F5344CB8AC3E}">
        <p14:creationId xmlns:p14="http://schemas.microsoft.com/office/powerpoint/2010/main" val="95548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2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614541"/>
              </p:ext>
            </p:extLst>
          </p:nvPr>
        </p:nvGraphicFramePr>
        <p:xfrm>
          <a:off x="5600700" y="612491"/>
          <a:ext cx="5753100" cy="5873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1">
                  <a:extLst>
                    <a:ext uri="{9D8B030D-6E8A-4147-A177-3AD203B41FA5}">
                      <a16:colId xmlns:a16="http://schemas.microsoft.com/office/drawing/2014/main" val="1108764676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359460077"/>
                    </a:ext>
                  </a:extLst>
                </a:gridCol>
                <a:gridCol w="990599">
                  <a:extLst>
                    <a:ext uri="{9D8B030D-6E8A-4147-A177-3AD203B41FA5}">
                      <a16:colId xmlns:a16="http://schemas.microsoft.com/office/drawing/2014/main" val="2104475383"/>
                    </a:ext>
                  </a:extLst>
                </a:gridCol>
              </a:tblGrid>
              <a:tr h="421218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Nr.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3102790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INTRODUCTION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791180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DESGIN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28738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baseline="0" dirty="0"/>
                        <a:t>MECHANICAL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55037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ELECTRICAL DESIGN</a:t>
                      </a:r>
                      <a:endParaRPr lang="en-US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859839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KINEMATIC MODEL AND CONTROL SYSTEM OF THE ROBOT</a:t>
                      </a:r>
                      <a:endParaRPr lang="en-US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926373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VISION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717374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PATH PLANNING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583621"/>
                  </a:ext>
                </a:extLst>
              </a:tr>
              <a:tr h="681567"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/>
                        <a:t>CONCLUSION AND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42020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362768" y="-114238"/>
            <a:ext cx="23092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u="sng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260" y="6538912"/>
            <a:ext cx="8763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 min</a:t>
            </a:r>
          </a:p>
        </p:txBody>
      </p:sp>
      <p:pic>
        <p:nvPicPr>
          <p:cNvPr id="6" name="Content Placeholder 6" descr="A picture containing text&#10;&#10;Description automatically generated">
            <a:extLst>
              <a:ext uri="{FF2B5EF4-FFF2-40B4-BE49-F238E27FC236}">
                <a16:creationId xmlns:a16="http://schemas.microsoft.com/office/drawing/2014/main" id="{CF2F31FF-FB1A-EE06-8361-A7AC756F2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71" y="1253331"/>
            <a:ext cx="38822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36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3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38926" y="181333"/>
            <a:ext cx="25090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</a:rPr>
              <a:t>1. </a:t>
            </a:r>
            <a:r>
              <a:rPr lang="en-US" sz="2400" b="1" cap="none" spc="0" dirty="0">
                <a:ln w="0"/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6886" y="1820488"/>
            <a:ext cx="10741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History</a:t>
            </a:r>
            <a:endParaRPr lang="en-US" sz="24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36369" y="2759823"/>
            <a:ext cx="119616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Leagues</a:t>
            </a:r>
            <a:endParaRPr lang="en-US" sz="24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77645" y="722196"/>
            <a:ext cx="168026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1.1 Abstract</a:t>
            </a:r>
            <a:endParaRPr lang="en-US" sz="24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12260" y="6538912"/>
            <a:ext cx="876300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 mins</a:t>
            </a:r>
          </a:p>
        </p:txBody>
      </p:sp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7A6322A2-8B7C-17C0-8350-A4DDBB8EE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058" y="2567998"/>
            <a:ext cx="4135336" cy="1819548"/>
          </a:xfrm>
          <a:prstGeom prst="rect">
            <a:avLst/>
          </a:prstGeom>
        </p:spPr>
      </p:pic>
      <p:pic>
        <p:nvPicPr>
          <p:cNvPr id="37" name="Picture 36" descr="A picture containing text, monitor, indoor, electronics&#10;&#10;Description automatically generated">
            <a:extLst>
              <a:ext uri="{FF2B5EF4-FFF2-40B4-BE49-F238E27FC236}">
                <a16:creationId xmlns:a16="http://schemas.microsoft.com/office/drawing/2014/main" id="{52B0681D-902F-F185-73C9-FC10D05AD0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160" y="656336"/>
            <a:ext cx="6350000" cy="48768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835F8AF-DCDF-4FC1-72CC-F0A4A6C5C7C8}"/>
              </a:ext>
            </a:extLst>
          </p:cNvPr>
          <p:cNvSpPr txBox="1"/>
          <p:nvPr/>
        </p:nvSpPr>
        <p:spPr>
          <a:xfrm>
            <a:off x="6353958" y="5540829"/>
            <a:ext cx="2589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Alan Mackworth</a:t>
            </a:r>
          </a:p>
        </p:txBody>
      </p:sp>
      <p:pic>
        <p:nvPicPr>
          <p:cNvPr id="12" name="Picture 11" descr="A picture containing text, soccer, ball&#10;&#10;Description automatically generated">
            <a:extLst>
              <a:ext uri="{FF2B5EF4-FFF2-40B4-BE49-F238E27FC236}">
                <a16:creationId xmlns:a16="http://schemas.microsoft.com/office/drawing/2014/main" id="{11A5ADA9-1FC6-5BAA-73CA-917549AB64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160" y="2554968"/>
            <a:ext cx="3922276" cy="18194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E54DAF-3ACC-4D8D-6956-0BF3EA7F35B9}"/>
              </a:ext>
            </a:extLst>
          </p:cNvPr>
          <p:cNvSpPr txBox="1"/>
          <p:nvPr/>
        </p:nvSpPr>
        <p:spPr>
          <a:xfrm>
            <a:off x="526886" y="1322032"/>
            <a:ext cx="14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Definition</a:t>
            </a:r>
          </a:p>
        </p:txBody>
      </p:sp>
      <p:pic>
        <p:nvPicPr>
          <p:cNvPr id="16" name="Picture 15" descr="A picture containing automaton, grass, toy, doll&#10;&#10;Description automatically generated">
            <a:extLst>
              <a:ext uri="{FF2B5EF4-FFF2-40B4-BE49-F238E27FC236}">
                <a16:creationId xmlns:a16="http://schemas.microsoft.com/office/drawing/2014/main" id="{5E7A1644-759E-0F01-B9E3-3E06E70C15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627" y="1686330"/>
            <a:ext cx="5031486" cy="35828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178BCE0-799E-2838-F26D-1EAC558C9615}"/>
              </a:ext>
            </a:extLst>
          </p:cNvPr>
          <p:cNvSpPr txBox="1"/>
          <p:nvPr/>
        </p:nvSpPr>
        <p:spPr>
          <a:xfrm>
            <a:off x="536369" y="2272042"/>
            <a:ext cx="1859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Competitions</a:t>
            </a:r>
          </a:p>
        </p:txBody>
      </p:sp>
      <p:pic>
        <p:nvPicPr>
          <p:cNvPr id="22" name="Picture 21" descr="A picture containing text, indoor, athletic game&#10;&#10;Description automatically generated">
            <a:extLst>
              <a:ext uri="{FF2B5EF4-FFF2-40B4-BE49-F238E27FC236}">
                <a16:creationId xmlns:a16="http://schemas.microsoft.com/office/drawing/2014/main" id="{DEEB1F14-70B5-39FA-BC91-9C2458B29F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287" y="1697625"/>
            <a:ext cx="4944852" cy="356029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47CD209-BC8D-7A13-3BF3-DEA9CF43C995}"/>
              </a:ext>
            </a:extLst>
          </p:cNvPr>
          <p:cNvSpPr txBox="1"/>
          <p:nvPr/>
        </p:nvSpPr>
        <p:spPr>
          <a:xfrm>
            <a:off x="3293116" y="2722223"/>
            <a:ext cx="4010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Team </a:t>
            </a:r>
            <a:r>
              <a:rPr lang="en-US" sz="2400" i="1" dirty="0" err="1"/>
              <a:t>NimbRo</a:t>
            </a:r>
            <a:r>
              <a:rPr lang="en-US" sz="2400" i="1" dirty="0"/>
              <a:t>, winner of the Best Humanoid Award 2019</a:t>
            </a:r>
            <a:endParaRPr lang="en-US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A45A16-EF9E-CE88-0138-2711B2AFBBC1}"/>
              </a:ext>
            </a:extLst>
          </p:cNvPr>
          <p:cNvSpPr txBox="1"/>
          <p:nvPr/>
        </p:nvSpPr>
        <p:spPr>
          <a:xfrm>
            <a:off x="7355416" y="3088203"/>
            <a:ext cx="5054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/>
              <a:t>RoboCup</a:t>
            </a:r>
            <a:r>
              <a:rPr lang="en-US" sz="2400" i="1" dirty="0"/>
              <a:t> MSL Leipzig, Germany (2016) 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4316A2-4B5D-804F-0432-E13287C042C1}"/>
              </a:ext>
            </a:extLst>
          </p:cNvPr>
          <p:cNvSpPr txBox="1"/>
          <p:nvPr/>
        </p:nvSpPr>
        <p:spPr>
          <a:xfrm>
            <a:off x="4582408" y="5739999"/>
            <a:ext cx="2812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NAO and official ball </a:t>
            </a:r>
            <a:endParaRPr lang="en-US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F1391D-B101-B1D9-B1E2-FB72D264174B}"/>
              </a:ext>
            </a:extLst>
          </p:cNvPr>
          <p:cNvSpPr txBox="1"/>
          <p:nvPr/>
        </p:nvSpPr>
        <p:spPr>
          <a:xfrm>
            <a:off x="7995035" y="5666347"/>
            <a:ext cx="4944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Two teams of two robots with an orange ball on a </a:t>
            </a:r>
            <a:r>
              <a:rPr lang="en-US" sz="2400" i="1" dirty="0" err="1"/>
              <a:t>RoboCupJunior</a:t>
            </a:r>
            <a:r>
              <a:rPr lang="en-US" sz="2400" i="1" dirty="0"/>
              <a:t> Soccer field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DA0F32-FD7E-275D-87BC-CF7901289C2C}"/>
              </a:ext>
            </a:extLst>
          </p:cNvPr>
          <p:cNvSpPr txBox="1"/>
          <p:nvPr/>
        </p:nvSpPr>
        <p:spPr>
          <a:xfrm>
            <a:off x="4038600" y="528211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D293C-BD3F-886F-74E2-3F9F8E562DEF}"/>
              </a:ext>
            </a:extLst>
          </p:cNvPr>
          <p:cNvSpPr txBox="1"/>
          <p:nvPr/>
        </p:nvSpPr>
        <p:spPr>
          <a:xfrm>
            <a:off x="1893468" y="5554671"/>
            <a:ext cx="10373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effectLst/>
              </a:rPr>
              <a:t>A soccer robot is a one kind of mobile or autonomous robot, used to play soccer with variants</a:t>
            </a:r>
            <a:endParaRPr lang="en-US" sz="2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636535-26BC-D220-F0B8-8D2394AD33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8751" y="38968"/>
            <a:ext cx="3072785" cy="27668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6C4A8D5-9A35-4E98-7C19-8287BD0F86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3230" y="3533827"/>
            <a:ext cx="4010407" cy="2216549"/>
          </a:xfrm>
          <a:prstGeom prst="rect">
            <a:avLst/>
          </a:prstGeom>
        </p:spPr>
      </p:pic>
      <p:pic>
        <p:nvPicPr>
          <p:cNvPr id="36" name="Picture 35" descr="A person kneeling next to a robot&#10;&#10;Description automatically generated with low confidence">
            <a:extLst>
              <a:ext uri="{FF2B5EF4-FFF2-40B4-BE49-F238E27FC236}">
                <a16:creationId xmlns:a16="http://schemas.microsoft.com/office/drawing/2014/main" id="{ED6B2CAB-5802-F71D-61CF-D25BD7DB30A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452" y="172160"/>
            <a:ext cx="4558509" cy="299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Picture 37" descr="A close-up of a table&#10;&#10;Description automatically generated with low confidence">
            <a:extLst>
              <a:ext uri="{FF2B5EF4-FFF2-40B4-BE49-F238E27FC236}">
                <a16:creationId xmlns:a16="http://schemas.microsoft.com/office/drawing/2014/main" id="{97575933-AFDF-DD8C-DF3C-7C55AB5ED6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8388" y="3503379"/>
            <a:ext cx="3726684" cy="2280403"/>
          </a:xfrm>
          <a:prstGeom prst="rect">
            <a:avLst/>
          </a:prstGeom>
        </p:spPr>
      </p:pic>
      <p:pic>
        <p:nvPicPr>
          <p:cNvPr id="39" name="Picture 38" descr="A picture containing floor, indoor&#10;&#10;Description automatically generated">
            <a:extLst>
              <a:ext uri="{FF2B5EF4-FFF2-40B4-BE49-F238E27FC236}">
                <a16:creationId xmlns:a16="http://schemas.microsoft.com/office/drawing/2014/main" id="{6BB717AD-78C1-C8A6-3985-13C1D9ED523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58" y="3679465"/>
            <a:ext cx="3285065" cy="183144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33BDFE6-1056-6ACF-E5AD-9337C8C81D89}"/>
              </a:ext>
            </a:extLst>
          </p:cNvPr>
          <p:cNvSpPr txBox="1"/>
          <p:nvPr/>
        </p:nvSpPr>
        <p:spPr>
          <a:xfrm>
            <a:off x="289183" y="5493774"/>
            <a:ext cx="4480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IEEE Very Small Size </a:t>
            </a:r>
            <a:r>
              <a:rPr lang="en-US" sz="2400" i="1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RoboCup</a:t>
            </a:r>
            <a:r>
              <a:rPr lang="en-US" sz="24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Soccer in the Latin American and Brazilian Robotics Competition 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70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1" grpId="0"/>
      <p:bldP spid="44" grpId="0"/>
      <p:bldP spid="44" grpId="1"/>
      <p:bldP spid="13" grpId="0"/>
      <p:bldP spid="18" grpId="0"/>
      <p:bldP spid="24" grpId="0"/>
      <p:bldP spid="26" grpId="0"/>
      <p:bldP spid="28" grpId="0"/>
      <p:bldP spid="32" grpId="0"/>
      <p:bldP spid="7" grpId="0"/>
      <p:bldP spid="7" grpId="1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38926" y="181333"/>
            <a:ext cx="25090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</a:rPr>
              <a:t>1. </a:t>
            </a:r>
            <a:r>
              <a:rPr lang="en-US" sz="2400" b="1" cap="none" spc="0" dirty="0">
                <a:ln w="0"/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7872" y="593499"/>
            <a:ext cx="182793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1.2 Objective</a:t>
            </a:r>
            <a:endParaRPr lang="en-US" sz="2400" cap="none" spc="0" dirty="0">
              <a:ln w="0"/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C2D8C0-28B9-99D0-C18B-0185D765300D}"/>
                  </a:ext>
                </a:extLst>
              </p:cNvPr>
              <p:cNvSpPr txBox="1"/>
              <p:nvPr/>
            </p:nvSpPr>
            <p:spPr>
              <a:xfrm>
                <a:off x="826971" y="1118587"/>
                <a:ext cx="731860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sz="2400" dirty="0"/>
                  <a:t>Implementing prototype and kinematic of soccer robot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2400" dirty="0"/>
                  <a:t>Apply computer vision algorithms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2400" dirty="0"/>
                  <a:t>Apply object recognition and motion control algorithm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Improve the movement of the soccer robot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C2D8C0-28B9-99D0-C18B-0185D7653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71" y="1118587"/>
                <a:ext cx="7318607" cy="1569660"/>
              </a:xfrm>
              <a:prstGeom prst="rect">
                <a:avLst/>
              </a:prstGeom>
              <a:blipFill>
                <a:blip r:embed="rId3"/>
                <a:stretch>
                  <a:fillRect l="-1333" t="-3488" r="-250" b="-7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0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38926" y="181333"/>
            <a:ext cx="25090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</a:rPr>
              <a:t>1. </a:t>
            </a:r>
            <a:r>
              <a:rPr lang="en-US" sz="2400" b="1" cap="none" spc="0" dirty="0">
                <a:ln w="0"/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16" y="593499"/>
            <a:ext cx="13875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1.3 Scope</a:t>
            </a:r>
            <a:endParaRPr lang="en-US" sz="2400" cap="none" spc="0" dirty="0">
              <a:ln w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4115" y="1366471"/>
            <a:ext cx="776353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Design differential wheeled soccer robot</a:t>
            </a:r>
            <a:endParaRPr lang="en-US" sz="36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27774" y="2245330"/>
            <a:ext cx="6465244" cy="30839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robot prototype is differential wheel robot with 2 main motor and 1 free turning wheel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colored golf ball shall be used as a ball, with standard weight and diameter</a:t>
            </a:r>
            <a:endParaRPr lang="en-US" sz="20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robot can shoot the static ball into goal</a:t>
            </a:r>
          </a:p>
        </p:txBody>
      </p:sp>
    </p:spTree>
    <p:extLst>
      <p:ext uri="{BB962C8B-B14F-4D97-AF65-F5344CB8AC3E}">
        <p14:creationId xmlns:p14="http://schemas.microsoft.com/office/powerpoint/2010/main" val="3389600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38926" y="181333"/>
            <a:ext cx="250908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0"/>
              </a:rPr>
              <a:t>1. </a:t>
            </a:r>
            <a:r>
              <a:rPr lang="en-US" sz="2400" b="1" cap="none" spc="0" dirty="0">
                <a:ln w="0"/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71" y="593499"/>
            <a:ext cx="269554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</a:rPr>
              <a:t>1.4 Thesis’s chapter </a:t>
            </a:r>
            <a:endParaRPr lang="en-US" sz="24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C2D8C0-28B9-99D0-C18B-0185D765300D}"/>
              </a:ext>
            </a:extLst>
          </p:cNvPr>
          <p:cNvSpPr txBox="1"/>
          <p:nvPr/>
        </p:nvSpPr>
        <p:spPr>
          <a:xfrm>
            <a:off x="826971" y="1118587"/>
            <a:ext cx="988065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Chapter 2: Design mechanical part of the soccer robot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Chapter 3: Design electrical circuit for the robot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Chapter 4: Implement the computer vision of the soccer robot system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Chapter 5: Design the motion control of the robot to shoot a ball into a goal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Chapter 6: Evaluate the project.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668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6958" y="3154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0895937" y="46910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658225" y="6388894"/>
            <a:ext cx="2743200" cy="365125"/>
          </a:xfrm>
        </p:spPr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7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20A279-7427-CB21-8092-B5623E25030B}"/>
              </a:ext>
            </a:extLst>
          </p:cNvPr>
          <p:cNvSpPr/>
          <p:nvPr/>
        </p:nvSpPr>
        <p:spPr>
          <a:xfrm>
            <a:off x="681776" y="2921168"/>
            <a:ext cx="1133951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0"/>
                <a:solidFill>
                  <a:schemeClr val="tx1"/>
                </a:solidFill>
              </a:rPr>
              <a:t>THANK YOU FOR YOUR ATTENTION</a:t>
            </a: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BCD33091-1C96-E90E-09C8-A34DF5184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1440" y="-31462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9045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9570" y="136525"/>
            <a:ext cx="41052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2. PRINCIPLE &amp; SELECTION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0642" y="903759"/>
            <a:ext cx="323947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2.1.1 Affecting factor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9EE39-31B4-A50C-DDE7-0BB462AAEA84}"/>
              </a:ext>
            </a:extLst>
          </p:cNvPr>
          <p:cNvSpPr/>
          <p:nvPr/>
        </p:nvSpPr>
        <p:spPr>
          <a:xfrm>
            <a:off x="291418" y="539043"/>
            <a:ext cx="527926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2.1 Mechanical principles selection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2AEF38-C291-8E1F-2DC9-F9B41A874827}"/>
              </a:ext>
            </a:extLst>
          </p:cNvPr>
          <p:cNvSpPr/>
          <p:nvPr/>
        </p:nvSpPr>
        <p:spPr>
          <a:xfrm>
            <a:off x="1387039" y="1427629"/>
            <a:ext cx="4252959" cy="22510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Small size robot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Easy for installing elements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Desired velocity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robot should be balanced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B95C8D-BDC1-F4BF-E41A-F404FF2EFDD7}"/>
              </a:ext>
            </a:extLst>
          </p:cNvPr>
          <p:cNvSpPr/>
          <p:nvPr/>
        </p:nvSpPr>
        <p:spPr>
          <a:xfrm>
            <a:off x="2779712" y="3678694"/>
            <a:ext cx="2779543" cy="22510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indent="-342900">
              <a:lnSpc>
                <a:spcPct val="150000"/>
              </a:lnSpc>
              <a:buFont typeface="Symbol" panose="05050102010706020507" pitchFamily="18" charset="2"/>
              <a:buChar char="Þ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Robot parameters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Base size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of wheel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Wheel radius</a:t>
            </a:r>
            <a:endParaRPr lang="en-US" sz="24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3972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9568" y="136525"/>
            <a:ext cx="41052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2. PRINCIPLE &amp; SELECTION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3751" y="903759"/>
            <a:ext cx="29932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2.1.2 Specifications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E6194A4-5724-4A91-B2EF-1D0A2124FE51}"/>
              </a:ext>
            </a:extLst>
          </p:cNvPr>
          <p:cNvSpPr txBox="1">
            <a:spLocks/>
          </p:cNvSpPr>
          <p:nvPr/>
        </p:nvSpPr>
        <p:spPr>
          <a:xfrm>
            <a:off x="755484" y="1295309"/>
            <a:ext cx="6420929" cy="5945232"/>
          </a:xfrm>
          <a:prstGeom prst="rect">
            <a:avLst/>
          </a:prstGeom>
        </p:spPr>
        <p:txBody>
          <a:bodyPr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b="1" dirty="0">
                <a:effectLst/>
              </a:rPr>
              <a:t>Technical requirement: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effectLst/>
              </a:rPr>
              <a:t>Size: a cube 100x100x100 mm</a:t>
            </a:r>
            <a:endParaRPr lang="en-US" sz="2200" i="1" dirty="0">
              <a:effectLst/>
            </a:endParaRPr>
          </a:p>
          <a:p>
            <a:pPr lvl="1">
              <a:lnSpc>
                <a:spcPct val="100000"/>
              </a:lnSpc>
            </a:pPr>
            <a:r>
              <a:rPr lang="en-US" sz="2200" dirty="0"/>
              <a:t>Mass</a:t>
            </a:r>
            <a:r>
              <a:rPr lang="en-US" sz="2200" dirty="0">
                <a:effectLst/>
              </a:rPr>
              <a:t>: 1kg</a:t>
            </a:r>
            <a:endParaRPr lang="en-US" sz="2200" i="1" dirty="0">
              <a:effectLst/>
            </a:endParaRPr>
          </a:p>
          <a:p>
            <a:pPr lvl="1">
              <a:lnSpc>
                <a:spcPct val="100000"/>
              </a:lnSpc>
            </a:pPr>
            <a:r>
              <a:rPr lang="en-US" sz="2200" dirty="0"/>
              <a:t>Maximum speed</a:t>
            </a:r>
            <a:r>
              <a:rPr lang="en-US" sz="2200" dirty="0">
                <a:effectLst/>
              </a:rPr>
              <a:t>: 1 m/s</a:t>
            </a:r>
            <a:endParaRPr lang="en-US" sz="2200" i="1" dirty="0">
              <a:effectLst/>
            </a:endParaRPr>
          </a:p>
          <a:p>
            <a:pPr lvl="1">
              <a:lnSpc>
                <a:spcPct val="100000"/>
              </a:lnSpc>
            </a:pPr>
            <a:endParaRPr lang="en-US" sz="2200" i="1" dirty="0">
              <a:effectLst/>
            </a:endParaRPr>
          </a:p>
          <a:p>
            <a:pPr lvl="1">
              <a:lnSpc>
                <a:spcPct val="100000"/>
              </a:lnSpc>
            </a:pPr>
            <a:endParaRPr lang="en-US" sz="2200" i="1" dirty="0">
              <a:effectLst/>
            </a:endParaRPr>
          </a:p>
          <a:p>
            <a:pPr>
              <a:lnSpc>
                <a:spcPct val="100000"/>
              </a:lnSpc>
            </a:pPr>
            <a:endParaRPr lang="en-US" sz="2400" i="1" dirty="0">
              <a:effectLst/>
            </a:endParaRPr>
          </a:p>
          <a:p>
            <a:pPr>
              <a:lnSpc>
                <a:spcPct val="100000"/>
              </a:lnSpc>
            </a:pPr>
            <a:endParaRPr lang="en-US" sz="2400" dirty="0">
              <a:effectLst/>
            </a:endParaRPr>
          </a:p>
          <a:p>
            <a:pPr>
              <a:lnSpc>
                <a:spcPct val="100000"/>
              </a:lnSpc>
            </a:pPr>
            <a:endParaRPr lang="en-US" sz="2400" i="1" dirty="0">
              <a:effectLst/>
            </a:endParaRPr>
          </a:p>
          <a:p>
            <a:pPr>
              <a:lnSpc>
                <a:spcPct val="100000"/>
              </a:lnSpc>
            </a:pPr>
            <a:endParaRPr lang="en-US" sz="2400" dirty="0"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D07DC-E7E6-C593-8E2F-FF416CBD1D0C}"/>
              </a:ext>
            </a:extLst>
          </p:cNvPr>
          <p:cNvSpPr/>
          <p:nvPr/>
        </p:nvSpPr>
        <p:spPr>
          <a:xfrm>
            <a:off x="291418" y="539043"/>
            <a:ext cx="527926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2.1 Mechanical principles selection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62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9568" y="136525"/>
            <a:ext cx="41052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2. PRINCIPLE &amp; SELECTION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52371" y="903759"/>
            <a:ext cx="283603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2.1.3 Mechanisms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5CDC708-9E46-FE24-62CE-DD0109937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1" y="19411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15A81B0-4523-8D2D-991F-90B66B636D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501376"/>
              </p:ext>
            </p:extLst>
          </p:nvPr>
        </p:nvGraphicFramePr>
        <p:xfrm>
          <a:off x="1191272" y="1462938"/>
          <a:ext cx="2479169" cy="1610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607643" imgH="1043547" progId="Visio.Drawing.15">
                  <p:embed/>
                </p:oleObj>
              </mc:Choice>
              <mc:Fallback>
                <p:oleObj name="Visio" r:id="rId3" imgW="1607643" imgH="1043547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1272" y="1462938"/>
                        <a:ext cx="2479169" cy="16103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id="{3E5BE640-0635-62D2-B9D9-6F3D64177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3376" y="2340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B24EB71-AFE4-D79B-5D7F-66CE6B5751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069944"/>
              </p:ext>
            </p:extLst>
          </p:nvPr>
        </p:nvGraphicFramePr>
        <p:xfrm>
          <a:off x="5060912" y="1373802"/>
          <a:ext cx="2291934" cy="1911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148627" imgH="1790574" progId="Visio.Drawing.15">
                  <p:embed/>
                </p:oleObj>
              </mc:Choice>
              <mc:Fallback>
                <p:oleObj name="Visio" r:id="rId5" imgW="2148627" imgH="1790574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0912" y="1373802"/>
                        <a:ext cx="2291934" cy="19119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>
            <a:extLst>
              <a:ext uri="{FF2B5EF4-FFF2-40B4-BE49-F238E27FC236}">
                <a16:creationId xmlns:a16="http://schemas.microsoft.com/office/drawing/2014/main" id="{6E187FB7-AE22-7027-F6C0-E718F168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893" y="25390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2657462A-FF77-D388-6A02-6E1A3E3F6D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897495"/>
              </p:ext>
            </p:extLst>
          </p:nvPr>
        </p:nvGraphicFramePr>
        <p:xfrm>
          <a:off x="8369403" y="1426979"/>
          <a:ext cx="2521746" cy="1757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607643" imgH="1119904" progId="Visio.Drawing.15">
                  <p:embed/>
                </p:oleObj>
              </mc:Choice>
              <mc:Fallback>
                <p:oleObj name="Visio" r:id="rId7" imgW="1607643" imgH="1119904" progId="Visio.Drawing.1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403" y="1426979"/>
                        <a:ext cx="2521746" cy="17575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8">
            <a:extLst>
              <a:ext uri="{FF2B5EF4-FFF2-40B4-BE49-F238E27FC236}">
                <a16:creationId xmlns:a16="http://schemas.microsoft.com/office/drawing/2014/main" id="{7D482E6D-32D5-DE83-1BBE-03112BD52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40338" y="4230984"/>
            <a:ext cx="164973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0CB2E59A-7751-18FC-9505-EE0D4ADED4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331416"/>
              </p:ext>
            </p:extLst>
          </p:nvPr>
        </p:nvGraphicFramePr>
        <p:xfrm>
          <a:off x="2735687" y="3587501"/>
          <a:ext cx="2105433" cy="265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607643" imgH="2026857" progId="Visio.Drawing.15">
                  <p:embed/>
                </p:oleObj>
              </mc:Choice>
              <mc:Fallback>
                <p:oleObj name="Visio" r:id="rId9" imgW="1607643" imgH="2026857" progId="Visio.Drawing.1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687" y="3587501"/>
                        <a:ext cx="2105433" cy="2659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0">
            <a:extLst>
              <a:ext uri="{FF2B5EF4-FFF2-40B4-BE49-F238E27FC236}">
                <a16:creationId xmlns:a16="http://schemas.microsoft.com/office/drawing/2014/main" id="{99D9A8BD-0690-2D5B-074D-0C758D0F9D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216344" y="4511663"/>
            <a:ext cx="1751779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DA3402A2-0254-09C2-FD8F-A33844070B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46477"/>
              </p:ext>
            </p:extLst>
          </p:nvPr>
        </p:nvGraphicFramePr>
        <p:xfrm>
          <a:off x="7819549" y="3812654"/>
          <a:ext cx="2376763" cy="2299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2575206" imgH="2491363" progId="Visio.Drawing.15">
                  <p:embed/>
                </p:oleObj>
              </mc:Choice>
              <mc:Fallback>
                <p:oleObj name="Visio" r:id="rId11" imgW="2575206" imgH="2491363" progId="Visio.Drawing.15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9549" y="3812654"/>
                        <a:ext cx="2376763" cy="22992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9240F1CC-7F26-8656-FBCD-5FD341711F5F}"/>
              </a:ext>
            </a:extLst>
          </p:cNvPr>
          <p:cNvSpPr/>
          <p:nvPr/>
        </p:nvSpPr>
        <p:spPr>
          <a:xfrm>
            <a:off x="291418" y="539043"/>
            <a:ext cx="527926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2.1 Mechanical principles selection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903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11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9568" y="136525"/>
            <a:ext cx="41052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2. PRINCIPLE &amp; SELECTION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52374" y="903759"/>
            <a:ext cx="283603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2.1.3 Mechanisms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5CDC708-9E46-FE24-62CE-DD0109937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1" y="19411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E5BE640-0635-62D2-B9D9-6F3D64177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3376" y="23405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6E187FB7-AE22-7027-F6C0-E718F168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893" y="253901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7D482E6D-32D5-DE83-1BBE-03112BD52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40338" y="4230984"/>
            <a:ext cx="164973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99D9A8BD-0690-2D5B-074D-0C758D0F9D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216344" y="4511663"/>
            <a:ext cx="1751779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A28B76D1-6618-6ADC-32B5-276D712F38E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7667702" y="3444884"/>
            <a:ext cx="2276560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A436E89C-B851-8C7F-A0AA-8F2183F514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347049"/>
              </p:ext>
            </p:extLst>
          </p:nvPr>
        </p:nvGraphicFramePr>
        <p:xfrm>
          <a:off x="1388161" y="1177213"/>
          <a:ext cx="3211548" cy="3722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607643" imgH="1858872" progId="Visio.Drawing.15">
                  <p:embed/>
                </p:oleObj>
              </mc:Choice>
              <mc:Fallback>
                <p:oleObj name="Visio" r:id="rId3" imgW="1607643" imgH="1858872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8161" y="1177213"/>
                        <a:ext cx="3211548" cy="37223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4">
            <a:extLst>
              <a:ext uri="{FF2B5EF4-FFF2-40B4-BE49-F238E27FC236}">
                <a16:creationId xmlns:a16="http://schemas.microsoft.com/office/drawing/2014/main" id="{1F547389-CF79-9689-6FFD-2B3D8CA17EC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515824" y="2929954"/>
            <a:ext cx="168109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2DBA4A08-0B09-307C-CB48-FA362380D2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379679"/>
              </p:ext>
            </p:extLst>
          </p:nvPr>
        </p:nvGraphicFramePr>
        <p:xfrm>
          <a:off x="6987652" y="2049611"/>
          <a:ext cx="3898233" cy="2991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977427" imgH="3025014" progId="Visio.Drawing.15">
                  <p:embed/>
                </p:oleObj>
              </mc:Choice>
              <mc:Fallback>
                <p:oleObj name="Visio" r:id="rId5" imgW="3977427" imgH="3025014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7652" y="2049611"/>
                        <a:ext cx="3898233" cy="29917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1AEB7A67-FB2F-FF72-3F6D-B182712A9846}"/>
              </a:ext>
            </a:extLst>
          </p:cNvPr>
          <p:cNvSpPr/>
          <p:nvPr/>
        </p:nvSpPr>
        <p:spPr>
          <a:xfrm>
            <a:off x="1579330" y="5055222"/>
            <a:ext cx="302037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Chosen mechanism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C184C3-88B0-9DA6-D01A-35617613A5B5}"/>
              </a:ext>
            </a:extLst>
          </p:cNvPr>
          <p:cNvSpPr/>
          <p:nvPr/>
        </p:nvSpPr>
        <p:spPr>
          <a:xfrm>
            <a:off x="7422319" y="5155984"/>
            <a:ext cx="30289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cap="none" spc="0" dirty="0">
                <a:ln w="0"/>
                <a:solidFill>
                  <a:schemeClr val="tx1"/>
                </a:solidFill>
              </a:rPr>
              <a:t>Schematic diagram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E4CFD0-4668-CF64-69C6-04BA1DD6BFD3}"/>
              </a:ext>
            </a:extLst>
          </p:cNvPr>
          <p:cNvSpPr/>
          <p:nvPr/>
        </p:nvSpPr>
        <p:spPr>
          <a:xfrm>
            <a:off x="291418" y="539043"/>
            <a:ext cx="527926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2.1 Mechanical principles selection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466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9567" y="136525"/>
            <a:ext cx="41052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2. PRINCIPLE &amp; SELECTION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9EE39-31B4-A50C-DDE7-0BB462AAEA84}"/>
              </a:ext>
            </a:extLst>
          </p:cNvPr>
          <p:cNvSpPr/>
          <p:nvPr/>
        </p:nvSpPr>
        <p:spPr>
          <a:xfrm>
            <a:off x="549436" y="487339"/>
            <a:ext cx="30441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2.2 Motor selection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pic>
        <p:nvPicPr>
          <p:cNvPr id="2" name="Picture 1" descr="Tìm hiểu về AC Servo Motor: Cấu tạo và nguyên lý hoạt động quan trọng">
            <a:extLst>
              <a:ext uri="{FF2B5EF4-FFF2-40B4-BE49-F238E27FC236}">
                <a16:creationId xmlns:a16="http://schemas.microsoft.com/office/drawing/2014/main" id="{90759CE8-D182-CA46-EA7F-143FE607DC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943" y="2416809"/>
            <a:ext cx="2287397" cy="228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Buy Dc motor with planetary gear and encoder 3-12V 104:1 116rpm at the  right price @ Electrokit">
            <a:extLst>
              <a:ext uri="{FF2B5EF4-FFF2-40B4-BE49-F238E27FC236}">
                <a16:creationId xmlns:a16="http://schemas.microsoft.com/office/drawing/2014/main" id="{A3A03385-608D-A741-5B18-415E85E6E4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348" y="2437725"/>
            <a:ext cx="3049272" cy="228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Pololu - Stepper Motor: Unipolar/Bipolar, 200 Steps/Rev, 42×48mm, 4V, 1.2  A/Phase">
            <a:extLst>
              <a:ext uri="{FF2B5EF4-FFF2-40B4-BE49-F238E27FC236}">
                <a16:creationId xmlns:a16="http://schemas.microsoft.com/office/drawing/2014/main" id="{745F5917-52B0-7D5B-77C7-6274D1218E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596" y="1789582"/>
            <a:ext cx="2118320" cy="310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2029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13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9567" y="136525"/>
            <a:ext cx="41052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2. PRINCIPLE &amp; SELECTION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9EE39-31B4-A50C-DDE7-0BB462AAEA84}"/>
              </a:ext>
            </a:extLst>
          </p:cNvPr>
          <p:cNvSpPr/>
          <p:nvPr/>
        </p:nvSpPr>
        <p:spPr>
          <a:xfrm>
            <a:off x="549436" y="487339"/>
            <a:ext cx="304410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2.2 Motor selection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pic>
        <p:nvPicPr>
          <p:cNvPr id="2" name="Picture 1" descr="Tìm hiểu về AC Servo Motor: Cấu tạo và nguyên lý hoạt động quan trọng">
            <a:extLst>
              <a:ext uri="{FF2B5EF4-FFF2-40B4-BE49-F238E27FC236}">
                <a16:creationId xmlns:a16="http://schemas.microsoft.com/office/drawing/2014/main" id="{90759CE8-D182-CA46-EA7F-143FE607DC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943" y="2416809"/>
            <a:ext cx="2287397" cy="228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Buy Dc motor with planetary gear and encoder 3-12V 104:1 116rpm at the  right price @ Electrokit">
            <a:extLst>
              <a:ext uri="{FF2B5EF4-FFF2-40B4-BE49-F238E27FC236}">
                <a16:creationId xmlns:a16="http://schemas.microsoft.com/office/drawing/2014/main" id="{A3A03385-608D-A741-5B18-415E85E6E4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348" y="2437725"/>
            <a:ext cx="3049272" cy="228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Pololu - Stepper Motor: Unipolar/Bipolar, 200 Steps/Rev, 42×48mm, 4V, 1.2  A/Phase">
            <a:extLst>
              <a:ext uri="{FF2B5EF4-FFF2-40B4-BE49-F238E27FC236}">
                <a16:creationId xmlns:a16="http://schemas.microsoft.com/office/drawing/2014/main" id="{745F5917-52B0-7D5B-77C7-6274D1218E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596" y="1789582"/>
            <a:ext cx="2118320" cy="310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9017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9567" y="136525"/>
            <a:ext cx="41052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2. PRINCIPLE &amp; SELECTION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9EE39-31B4-A50C-DDE7-0BB462AAEA84}"/>
              </a:ext>
            </a:extLst>
          </p:cNvPr>
          <p:cNvSpPr/>
          <p:nvPr/>
        </p:nvSpPr>
        <p:spPr>
          <a:xfrm>
            <a:off x="482401" y="487339"/>
            <a:ext cx="317817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2.2 Battery selection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pic>
        <p:nvPicPr>
          <p:cNvPr id="8" name="Picture 7" descr="4PCx PKCELL Lifepo4 3.2V 14500 AA Pin Sạc Lithium Ion 600MAH IFR14500 Pin  Năng Lượng Mặt Trời Cho Panel bàn Chải Đánh Răng|lithium ion battery|aa  600mahbattery aa - AliExpress">
            <a:extLst>
              <a:ext uri="{FF2B5EF4-FFF2-40B4-BE49-F238E27FC236}">
                <a16:creationId xmlns:a16="http://schemas.microsoft.com/office/drawing/2014/main" id="{91613E2D-B5DF-FE7A-440A-B5B83BACF8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90" y="1815114"/>
            <a:ext cx="2730623" cy="2730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Lithium Ion Battery - 1Ah - PRT-13813 - SparkFun Electronics">
            <a:extLst>
              <a:ext uri="{FF2B5EF4-FFF2-40B4-BE49-F238E27FC236}">
                <a16:creationId xmlns:a16="http://schemas.microsoft.com/office/drawing/2014/main" id="{45DBE79D-DCAB-8919-025A-F16481B5E6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160" y="1662406"/>
            <a:ext cx="3036040" cy="3036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0606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15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9567" y="136525"/>
            <a:ext cx="41052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2. PRINCIPLE &amp; SELECTION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9EE39-31B4-A50C-DDE7-0BB462AAEA84}"/>
              </a:ext>
            </a:extLst>
          </p:cNvPr>
          <p:cNvSpPr/>
          <p:nvPr/>
        </p:nvSpPr>
        <p:spPr>
          <a:xfrm>
            <a:off x="282923" y="487339"/>
            <a:ext cx="357713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2.2 Controller selection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pic>
        <p:nvPicPr>
          <p:cNvPr id="2" name="Picture 1" descr="Board kit phát triển STM32F103C8T6 ARM Cortex-M3 | MakerStore.vn">
            <a:extLst>
              <a:ext uri="{FF2B5EF4-FFF2-40B4-BE49-F238E27FC236}">
                <a16:creationId xmlns:a16="http://schemas.microsoft.com/office/drawing/2014/main" id="{0E787259-E830-9CB4-E637-8166C16AB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21" y="1293783"/>
            <a:ext cx="2791289" cy="1858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2C6AF8-5530-AFA4-A283-34E6D6CCF9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3" y="1395737"/>
            <a:ext cx="2771897" cy="135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82E3FA-7DCC-9649-A3F4-0D9A67BC13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677" y="1010559"/>
            <a:ext cx="3035923" cy="2276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Lập trình ESP32 từ A tới Z">
            <a:extLst>
              <a:ext uri="{FF2B5EF4-FFF2-40B4-BE49-F238E27FC236}">
                <a16:creationId xmlns:a16="http://schemas.microsoft.com/office/drawing/2014/main" id="{5DFA88DF-FBE3-52C1-9B57-1BE5390109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820" y="3893347"/>
            <a:ext cx="2578038" cy="145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Raspberry Pi Products Category on Adafruit Industries">
            <a:extLst>
              <a:ext uri="{FF2B5EF4-FFF2-40B4-BE49-F238E27FC236}">
                <a16:creationId xmlns:a16="http://schemas.microsoft.com/office/drawing/2014/main" id="{E113A40C-91B4-0AEB-0C7C-3DFA1A357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270" y="3391445"/>
            <a:ext cx="3035923" cy="216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27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16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99567" y="136525"/>
            <a:ext cx="41052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2. PRINCIPLE &amp; SELECTION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9EE39-31B4-A50C-DDE7-0BB462AAEA84}"/>
              </a:ext>
            </a:extLst>
          </p:cNvPr>
          <p:cNvSpPr/>
          <p:nvPr/>
        </p:nvSpPr>
        <p:spPr>
          <a:xfrm>
            <a:off x="292539" y="487339"/>
            <a:ext cx="355789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2.2 Control mechanism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7AC67B8-8171-5E7D-F3FD-79001EE01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773" y="17676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4D07F01-21EC-023C-D7C2-AED43965B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223598"/>
              </p:ext>
            </p:extLst>
          </p:nvPr>
        </p:nvGraphicFramePr>
        <p:xfrm>
          <a:off x="720337" y="1296140"/>
          <a:ext cx="4847412" cy="3794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127870" imgH="4007900" progId="Visio.Drawing.15">
                  <p:embed/>
                </p:oleObj>
              </mc:Choice>
              <mc:Fallback>
                <p:oleObj name="Visio" r:id="rId3" imgW="5127870" imgH="400790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337" y="1296140"/>
                        <a:ext cx="4847412" cy="37941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F913C025-249C-D691-2554-122EEF0A9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5896" y="11358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A894488-37C0-61D4-9F86-713AFE7C3A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624028"/>
              </p:ext>
            </p:extLst>
          </p:nvPr>
        </p:nvGraphicFramePr>
        <p:xfrm>
          <a:off x="6119402" y="1135857"/>
          <a:ext cx="5527531" cy="379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7452147" imgH="5120593" progId="Visio.Drawing.15">
                  <p:embed/>
                </p:oleObj>
              </mc:Choice>
              <mc:Fallback>
                <p:oleObj name="Visio" r:id="rId5" imgW="7452147" imgH="5120593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402" y="1135857"/>
                        <a:ext cx="5527531" cy="37941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6348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48F59-5C5E-46D8-91CD-8AA611B8F5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0"/>
            <a:ext cx="824332" cy="8243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F211B8-E774-495B-9BD8-175D6AB6E975}"/>
              </a:ext>
            </a:extLst>
          </p:cNvPr>
          <p:cNvSpPr txBox="1">
            <a:spLocks/>
          </p:cNvSpPr>
          <p:nvPr/>
        </p:nvSpPr>
        <p:spPr>
          <a:xfrm>
            <a:off x="11052779" y="437566"/>
            <a:ext cx="1400973" cy="46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latin typeface="+mn-lt"/>
              </a:rPr>
              <a:t>HCMUT - ME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OISP - HCMUT   Mechatronics division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DE5DD40E-3F73-49B1-8930-59816E4F0249}" type="slidenum">
              <a:rPr lang="en-US" smtClean="0"/>
              <a:t>17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-1" y="0"/>
            <a:ext cx="361951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82784" y="136525"/>
            <a:ext cx="333886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</a:rPr>
              <a:t>3. Mechanical Design</a:t>
            </a:r>
            <a:endParaRPr lang="en-US" sz="2800" b="1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C9EE39-31B4-A50C-DDE7-0BB462AAEA84}"/>
              </a:ext>
            </a:extLst>
          </p:cNvPr>
          <p:cNvSpPr/>
          <p:nvPr/>
        </p:nvSpPr>
        <p:spPr>
          <a:xfrm>
            <a:off x="292539" y="487339"/>
            <a:ext cx="355789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2.2 Control mechanism</a:t>
            </a:r>
            <a:endParaRPr lang="en-US" sz="280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7AC67B8-8171-5E7D-F3FD-79001EE01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773" y="17676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4D07F01-21EC-023C-D7C2-AED43965B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0337" y="1296140"/>
          <a:ext cx="4847412" cy="3794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127870" imgH="4007900" progId="Visio.Drawing.15">
                  <p:embed/>
                </p:oleObj>
              </mc:Choice>
              <mc:Fallback>
                <p:oleObj name="Visio" r:id="rId3" imgW="5127870" imgH="4007900" progId="Visio.Drawing.15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14D07F01-21EC-023C-D7C2-AED43965B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337" y="1296140"/>
                        <a:ext cx="4847412" cy="37941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F913C025-249C-D691-2554-122EEF0A9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5896" y="11358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A894488-37C0-61D4-9F86-713AFE7C3A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9402" y="1135857"/>
          <a:ext cx="5527531" cy="379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7452147" imgH="5120593" progId="Visio.Drawing.15">
                  <p:embed/>
                </p:oleObj>
              </mc:Choice>
              <mc:Fallback>
                <p:oleObj name="Visio" r:id="rId5" imgW="7452147" imgH="5120593" progId="Visio.Drawing.15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1A894488-37C0-61D4-9F86-713AFE7C3A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402" y="1135857"/>
                        <a:ext cx="5527531" cy="37941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342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5351</TotalTime>
  <Words>663</Words>
  <Application>Microsoft Office PowerPoint</Application>
  <PresentationFormat>Widescreen</PresentationFormat>
  <Paragraphs>158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Fira Sans</vt:lpstr>
      <vt:lpstr>Symbol</vt:lpstr>
      <vt:lpstr>Office Theme</vt:lpstr>
      <vt:lpstr>Microsoft Visio Drawing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</dc:creator>
  <cp:lastModifiedBy>Minh</cp:lastModifiedBy>
  <cp:revision>14</cp:revision>
  <dcterms:created xsi:type="dcterms:W3CDTF">2022-09-16T10:27:50Z</dcterms:created>
  <dcterms:modified xsi:type="dcterms:W3CDTF">2022-12-05T06:16:06Z</dcterms:modified>
</cp:coreProperties>
</file>